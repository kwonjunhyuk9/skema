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1"/>
  </p:notesMasterIdLst>
  <p:sldIdLst>
    <p:sldId id="256" r:id="rId2"/>
    <p:sldId id="267" r:id="rId3"/>
    <p:sldId id="263" r:id="rId4"/>
    <p:sldId id="261" r:id="rId5"/>
    <p:sldId id="262" r:id="rId6"/>
    <p:sldId id="259" r:id="rId7"/>
    <p:sldId id="264"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3"/>
    <p:restoredTop sz="94723"/>
  </p:normalViewPr>
  <p:slideViewPr>
    <p:cSldViewPr snapToGrid="0">
      <p:cViewPr>
        <p:scale>
          <a:sx n="128" d="100"/>
          <a:sy n="128" d="100"/>
        </p:scale>
        <p:origin x="23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209C7-7CAD-4B4A-9C6B-0A5A6121372F}" type="datetimeFigureOut">
              <a:rPr kumimoji="1" lang="ko-KR" altLang="en-US" smtClean="0"/>
              <a:t>2025. 6. 1.</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64230-AE7F-9541-A144-55A9F3296EBB}" type="slidenum">
              <a:rPr kumimoji="1" lang="ko-KR" altLang="en-US" smtClean="0"/>
              <a:t>‹#›</a:t>
            </a:fld>
            <a:endParaRPr kumimoji="1" lang="ko-KR" altLang="en-US"/>
          </a:p>
        </p:txBody>
      </p:sp>
    </p:spTree>
    <p:extLst>
      <p:ext uri="{BB962C8B-B14F-4D97-AF65-F5344CB8AC3E}">
        <p14:creationId xmlns:p14="http://schemas.microsoft.com/office/powerpoint/2010/main" val="291253113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9F964230-AE7F-9541-A144-55A9F3296EBB}" type="slidenum">
              <a:rPr kumimoji="1" lang="ko-KR" altLang="en-US" smtClean="0"/>
              <a:t>1</a:t>
            </a:fld>
            <a:endParaRPr kumimoji="1" lang="ko-KR" altLang="en-US"/>
          </a:p>
        </p:txBody>
      </p:sp>
    </p:spTree>
    <p:extLst>
      <p:ext uri="{BB962C8B-B14F-4D97-AF65-F5344CB8AC3E}">
        <p14:creationId xmlns:p14="http://schemas.microsoft.com/office/powerpoint/2010/main" val="1928157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11"/>
          </p:nvPr>
        </p:nvSpPr>
        <p:spPr/>
        <p:txBody>
          <a:bodyPr/>
          <a:lstStyle/>
          <a:p>
            <a:endParaRPr kumimoji="1" lang="ko-KR" altLang="en-US"/>
          </a:p>
        </p:txBody>
      </p:sp>
      <p:sp>
        <p:nvSpPr>
          <p:cNvPr id="6" name="Slide Number Placeholder 5"/>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2646437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11"/>
          </p:nvPr>
        </p:nvSpPr>
        <p:spPr/>
        <p:txBody>
          <a:bodyPr/>
          <a:lstStyle/>
          <a:p>
            <a:endParaRPr kumimoji="1" lang="ko-KR" altLang="en-US"/>
          </a:p>
        </p:txBody>
      </p:sp>
      <p:sp>
        <p:nvSpPr>
          <p:cNvPr id="6" name="Slide Number Placeholder 5"/>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522547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11"/>
          </p:nvPr>
        </p:nvSpPr>
        <p:spPr/>
        <p:txBody>
          <a:bodyPr/>
          <a:lstStyle/>
          <a:p>
            <a:endParaRPr kumimoji="1" lang="ko-KR" altLang="en-US"/>
          </a:p>
        </p:txBody>
      </p:sp>
      <p:sp>
        <p:nvSpPr>
          <p:cNvPr id="6" name="Slide Number Placeholder 5"/>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608558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6" name="Footer Placeholder 5"/>
          <p:cNvSpPr>
            <a:spLocks noGrp="1"/>
          </p:cNvSpPr>
          <p:nvPr>
            <p:ph type="ftr" sz="quarter" idx="11"/>
          </p:nvPr>
        </p:nvSpPr>
        <p:spPr/>
        <p:txBody>
          <a:bodyPr/>
          <a:lstStyle/>
          <a:p>
            <a:endParaRPr kumimoji="1" lang="ko-KR" altLang="en-US"/>
          </a:p>
        </p:txBody>
      </p:sp>
      <p:sp>
        <p:nvSpPr>
          <p:cNvPr id="7" name="Slide Number Placeholder 6"/>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308368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8" name="Footer Placeholder 7"/>
          <p:cNvSpPr>
            <a:spLocks noGrp="1"/>
          </p:cNvSpPr>
          <p:nvPr>
            <p:ph type="ftr" sz="quarter" idx="11"/>
          </p:nvPr>
        </p:nvSpPr>
        <p:spPr/>
        <p:txBody>
          <a:bodyPr/>
          <a:lstStyle/>
          <a:p>
            <a:endParaRPr kumimoji="1" lang="ko-KR" altLang="en-US"/>
          </a:p>
        </p:txBody>
      </p:sp>
      <p:sp>
        <p:nvSpPr>
          <p:cNvPr id="9" name="Slide Number Placeholder 8"/>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514861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4" name="Footer Placeholder 3"/>
          <p:cNvSpPr>
            <a:spLocks noGrp="1"/>
          </p:cNvSpPr>
          <p:nvPr>
            <p:ph type="ftr" sz="quarter" idx="11"/>
          </p:nvPr>
        </p:nvSpPr>
        <p:spPr/>
        <p:txBody>
          <a:bodyPr/>
          <a:lstStyle/>
          <a:p>
            <a:endParaRPr kumimoji="1" lang="ko-KR" altLang="en-US"/>
          </a:p>
        </p:txBody>
      </p:sp>
      <p:sp>
        <p:nvSpPr>
          <p:cNvPr id="5" name="Slide Number Placeholder 4"/>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2154919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3" name="Footer Placeholder 2"/>
          <p:cNvSpPr>
            <a:spLocks noGrp="1"/>
          </p:cNvSpPr>
          <p:nvPr>
            <p:ph type="ftr" sz="quarter" idx="11"/>
          </p:nvPr>
        </p:nvSpPr>
        <p:spPr/>
        <p:txBody>
          <a:bodyPr/>
          <a:lstStyle/>
          <a:p>
            <a:endParaRPr kumimoji="1" lang="ko-KR" altLang="en-US"/>
          </a:p>
        </p:txBody>
      </p:sp>
      <p:sp>
        <p:nvSpPr>
          <p:cNvPr id="4" name="Slide Number Placeholder 3"/>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32620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6" name="Footer Placeholder 5"/>
          <p:cNvSpPr>
            <a:spLocks noGrp="1"/>
          </p:cNvSpPr>
          <p:nvPr>
            <p:ph type="ftr" sz="quarter" idx="11"/>
          </p:nvPr>
        </p:nvSpPr>
        <p:spPr/>
        <p:txBody>
          <a:bodyPr/>
          <a:lstStyle/>
          <a:p>
            <a:endParaRPr kumimoji="1" lang="ko-KR" altLang="en-US"/>
          </a:p>
        </p:txBody>
      </p:sp>
      <p:sp>
        <p:nvSpPr>
          <p:cNvPr id="7" name="Slide Number Placeholder 6"/>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22304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6" name="Footer Placeholder 5"/>
          <p:cNvSpPr>
            <a:spLocks noGrp="1"/>
          </p:cNvSpPr>
          <p:nvPr>
            <p:ph type="ftr" sz="quarter" idx="11"/>
          </p:nvPr>
        </p:nvSpPr>
        <p:spPr/>
        <p:txBody>
          <a:bodyPr/>
          <a:lstStyle/>
          <a:p>
            <a:endParaRPr kumimoji="1" lang="ko-KR" altLang="en-US"/>
          </a:p>
        </p:txBody>
      </p:sp>
      <p:sp>
        <p:nvSpPr>
          <p:cNvPr id="7" name="Slide Number Placeholder 6"/>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2730554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11"/>
          </p:nvPr>
        </p:nvSpPr>
        <p:spPr/>
        <p:txBody>
          <a:bodyPr/>
          <a:lstStyle/>
          <a:p>
            <a:endParaRPr kumimoji="1" lang="ko-KR" altLang="en-US"/>
          </a:p>
        </p:txBody>
      </p:sp>
      <p:sp>
        <p:nvSpPr>
          <p:cNvPr id="6" name="Slide Number Placeholder 5"/>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383749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11"/>
          </p:nvPr>
        </p:nvSpPr>
        <p:spPr/>
        <p:txBody>
          <a:bodyPr/>
          <a:lstStyle/>
          <a:p>
            <a:endParaRPr kumimoji="1" lang="ko-KR" altLang="en-US"/>
          </a:p>
        </p:txBody>
      </p:sp>
      <p:sp>
        <p:nvSpPr>
          <p:cNvPr id="6" name="Slide Number Placeholder 5"/>
          <p:cNvSpPr>
            <a:spLocks noGrp="1"/>
          </p:cNvSpPr>
          <p:nvPr>
            <p:ph type="sldNum" sz="quarter" idx="12"/>
          </p:nvPr>
        </p:nvSpPr>
        <p:spPr/>
        <p:txBody>
          <a:body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3283607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ivot">
          <a:fgClr>
            <a:schemeClr val="bg1">
              <a:tint val="95000"/>
              <a:satMod val="17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EC135A-2F90-8645-8F9D-F7D51362BE04}" type="datetimeFigureOut">
              <a:rPr kumimoji="1" lang="ko-KR" altLang="en-US" smtClean="0"/>
              <a:t>2025. 6. 1.</a:t>
            </a:fld>
            <a:endParaRPr kumimoji="1"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7911B7-C12D-3549-B58C-1E1D9A5BDFC8}" type="slidenum">
              <a:rPr kumimoji="1" lang="ko-KR" altLang="en-US" smtClean="0"/>
              <a:t>‹#›</a:t>
            </a:fld>
            <a:endParaRPr kumimoji="1" lang="ko-KR" altLang="en-US"/>
          </a:p>
        </p:txBody>
      </p:sp>
    </p:spTree>
    <p:extLst>
      <p:ext uri="{BB962C8B-B14F-4D97-AF65-F5344CB8AC3E}">
        <p14:creationId xmlns:p14="http://schemas.microsoft.com/office/powerpoint/2010/main" val="142570450"/>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youtube.com/watch?v=ybkkiGtJmkM" TargetMode="External"/><Relationship Id="rId4" Type="http://schemas.openxmlformats.org/officeDocument/2006/relationships/hyperlink" Target="https://en.wikipedia.org/wiki/Enigma_machin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6" name="그림 5" descr="실내이(가) 표시된 사진&#10;&#10;AI 생성 콘텐츠는 정확하지 않을 수 있습니다.">
            <a:extLst>
              <a:ext uri="{FF2B5EF4-FFF2-40B4-BE49-F238E27FC236}">
                <a16:creationId xmlns:a16="http://schemas.microsoft.com/office/drawing/2014/main" id="{3952A85F-40F3-9C07-6794-4E4B871EE443}"/>
              </a:ext>
            </a:extLst>
          </p:cNvPr>
          <p:cNvPicPr>
            <a:picLocks noChangeAspect="1"/>
          </p:cNvPicPr>
          <p:nvPr/>
        </p:nvPicPr>
        <p:blipFill>
          <a:blip r:embed="rId3">
            <a:alphaModFix amt="60000"/>
          </a:blip>
          <a:srcRect t="24124" r="1" b="24267"/>
          <a:stretch>
            <a:fillRect/>
          </a:stretch>
        </p:blipFill>
        <p:spPr>
          <a:xfrm>
            <a:off x="-1" y="10"/>
            <a:ext cx="12192001" cy="6857990"/>
          </a:xfrm>
          <a:prstGeom prst="rect">
            <a:avLst/>
          </a:prstGeom>
          <a:effectLst>
            <a:softEdge rad="988238"/>
          </a:effectLst>
        </p:spPr>
      </p:pic>
      <p:sp>
        <p:nvSpPr>
          <p:cNvPr id="4" name="TextBox 3">
            <a:extLst>
              <a:ext uri="{FF2B5EF4-FFF2-40B4-BE49-F238E27FC236}">
                <a16:creationId xmlns:a16="http://schemas.microsoft.com/office/drawing/2014/main" id="{44BAC5E7-F391-E148-545D-8FFD50128CEF}"/>
              </a:ext>
            </a:extLst>
          </p:cNvPr>
          <p:cNvSpPr txBox="1"/>
          <p:nvPr/>
        </p:nvSpPr>
        <p:spPr>
          <a:xfrm>
            <a:off x="960628" y="5089050"/>
            <a:ext cx="6224524" cy="722751"/>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altLang="ko-KR" sz="1600" u="sng" dirty="0">
                <a:solidFill>
                  <a:schemeClr val="tx1">
                    <a:lumMod val="50000"/>
                  </a:schemeClr>
                </a:solidFill>
                <a:latin typeface="Courier New" panose="02070309020205020404" pitchFamily="49" charset="0"/>
                <a:cs typeface="Courier New" panose="02070309020205020404" pitchFamily="49" charset="0"/>
                <a:hlinkClick r:id="rId4">
                  <a:extLst>
                    <a:ext uri="{A12FA001-AC4F-418D-AE19-62706E023703}">
                      <ahyp:hlinkClr xmlns:ahyp="http://schemas.microsoft.com/office/drawing/2018/hyperlinkcolor" val="tx"/>
                    </a:ext>
                  </a:extLst>
                </a:hlinkClick>
              </a:rPr>
              <a:t>https://en.wikipedia.org/wiki/Enigma_machine</a:t>
            </a:r>
            <a:endParaRPr lang="en-US" altLang="ko-KR" sz="1600" dirty="0">
              <a:solidFill>
                <a:schemeClr val="tx1">
                  <a:lumMod val="50000"/>
                </a:schemeClr>
              </a:solidFill>
              <a:latin typeface="Courier New" panose="02070309020205020404" pitchFamily="49" charset="0"/>
              <a:cs typeface="Courier New" panose="02070309020205020404" pitchFamily="49" charset="0"/>
            </a:endParaRPr>
          </a:p>
          <a:p>
            <a:pPr indent="-228600" defTabSz="914400">
              <a:lnSpc>
                <a:spcPct val="90000"/>
              </a:lnSpc>
              <a:spcAft>
                <a:spcPts val="600"/>
              </a:spcAft>
              <a:buFont typeface="Arial" panose="020B0604020202020204" pitchFamily="34" charset="0"/>
              <a:buChar char="•"/>
            </a:pPr>
            <a:r>
              <a:rPr lang="en-US" altLang="ko-KR" sz="1600" u="sng" dirty="0">
                <a:solidFill>
                  <a:schemeClr val="tx1">
                    <a:lumMod val="50000"/>
                  </a:schemeClr>
                </a:solidFill>
                <a:latin typeface="Courier New" panose="02070309020205020404" pitchFamily="49" charset="0"/>
                <a:cs typeface="Courier New" panose="02070309020205020404" pitchFamily="49" charset="0"/>
                <a:hlinkClick r:id="rId5">
                  <a:extLst>
                    <a:ext uri="{A12FA001-AC4F-418D-AE19-62706E023703}">
                      <ahyp:hlinkClr xmlns:ahyp="http://schemas.microsoft.com/office/drawing/2018/hyperlinkcolor" val="tx"/>
                    </a:ext>
                  </a:extLst>
                </a:hlinkClick>
              </a:rPr>
              <a:t>https://www.youtube.com/watch?v=ybkkiGtJmkM</a:t>
            </a:r>
            <a:endParaRPr lang="en-US" altLang="ko-KR" sz="1600" dirty="0">
              <a:solidFill>
                <a:schemeClr val="tx1">
                  <a:lumMod val="50000"/>
                </a:schemeClr>
              </a:solidFill>
              <a:latin typeface="Courier New" panose="02070309020205020404" pitchFamily="49" charset="0"/>
              <a:cs typeface="Courier New" panose="02070309020205020404" pitchFamily="49" charset="0"/>
            </a:endParaRPr>
          </a:p>
        </p:txBody>
      </p:sp>
      <p:sp>
        <p:nvSpPr>
          <p:cNvPr id="7" name="제목 1">
            <a:extLst>
              <a:ext uri="{FF2B5EF4-FFF2-40B4-BE49-F238E27FC236}">
                <a16:creationId xmlns:a16="http://schemas.microsoft.com/office/drawing/2014/main" id="{3C859526-9665-8795-1BCE-230797A6DC8F}"/>
              </a:ext>
            </a:extLst>
          </p:cNvPr>
          <p:cNvSpPr txBox="1">
            <a:spLocks/>
          </p:cNvSpPr>
          <p:nvPr/>
        </p:nvSpPr>
        <p:spPr>
          <a:xfrm>
            <a:off x="963676" y="477983"/>
            <a:ext cx="6503924" cy="3564869"/>
          </a:xfrm>
          <a:prstGeom prst="rect">
            <a:avLst/>
          </a:prstGeom>
        </p:spPr>
        <p:txBody>
          <a:bodyPr vert="horz" lIns="91440" tIns="45720" rIns="91440" bIns="45720" rtlCol="0" anchor="b">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pPr algn="l"/>
            <a:r>
              <a:rPr kumimoji="1" lang="en-US" altLang="ko-KR" sz="8100" dirty="0">
                <a:ln w="22225">
                  <a:solidFill>
                    <a:schemeClr val="tx1"/>
                  </a:solidFill>
                  <a:miter lim="800000"/>
                </a:ln>
                <a:noFill/>
                <a:latin typeface="Courier New" panose="02070309020205020404" pitchFamily="49" charset="0"/>
                <a:cs typeface="Courier New" panose="02070309020205020404" pitchFamily="49" charset="0"/>
              </a:rPr>
              <a:t>The</a:t>
            </a:r>
            <a:br>
              <a:rPr kumimoji="1" lang="en-US" altLang="ko-KR" sz="8100" dirty="0">
                <a:ln w="22225">
                  <a:solidFill>
                    <a:schemeClr val="tx1"/>
                  </a:solidFill>
                  <a:miter lim="800000"/>
                </a:ln>
                <a:noFill/>
                <a:latin typeface="Courier New" panose="02070309020205020404" pitchFamily="49" charset="0"/>
                <a:cs typeface="Courier New" panose="02070309020205020404" pitchFamily="49" charset="0"/>
              </a:rPr>
            </a:br>
            <a:r>
              <a:rPr kumimoji="1" lang="en-US" altLang="ko-KR" sz="8100" dirty="0">
                <a:ln w="22225">
                  <a:solidFill>
                    <a:schemeClr val="tx1"/>
                  </a:solidFill>
                  <a:miter lim="800000"/>
                </a:ln>
                <a:noFill/>
                <a:latin typeface="Courier New" panose="02070309020205020404" pitchFamily="49" charset="0"/>
                <a:cs typeface="Courier New" panose="02070309020205020404" pitchFamily="49" charset="0"/>
              </a:rPr>
              <a:t>Enigma </a:t>
            </a:r>
            <a:br>
              <a:rPr kumimoji="1" lang="en-US" altLang="ko-KR" sz="8100" dirty="0">
                <a:ln w="22225">
                  <a:solidFill>
                    <a:schemeClr val="tx1"/>
                  </a:solidFill>
                  <a:miter lim="800000"/>
                </a:ln>
                <a:noFill/>
                <a:latin typeface="Courier New" panose="02070309020205020404" pitchFamily="49" charset="0"/>
                <a:cs typeface="Courier New" panose="02070309020205020404" pitchFamily="49" charset="0"/>
              </a:rPr>
            </a:br>
            <a:r>
              <a:rPr kumimoji="1" lang="en-US" altLang="ko-KR" sz="8100" dirty="0">
                <a:ln w="22225">
                  <a:solidFill>
                    <a:schemeClr val="tx1"/>
                  </a:solidFill>
                  <a:miter lim="800000"/>
                </a:ln>
                <a:noFill/>
                <a:latin typeface="Courier New" panose="02070309020205020404" pitchFamily="49" charset="0"/>
                <a:cs typeface="Courier New" panose="02070309020205020404" pitchFamily="49" charset="0"/>
              </a:rPr>
              <a:t>Machine</a:t>
            </a:r>
            <a:endParaRPr kumimoji="1" lang="ko-KR" altLang="en-US" sz="8100" dirty="0">
              <a:ln w="22225">
                <a:solidFill>
                  <a:schemeClr val="tx1"/>
                </a:solidFill>
                <a:miter lim="800000"/>
              </a:ln>
              <a:noFill/>
              <a:latin typeface="Courier New" panose="02070309020205020404" pitchFamily="49" charset="0"/>
              <a:cs typeface="Courier New" panose="02070309020205020404" pitchFamily="49" charset="0"/>
            </a:endParaRPr>
          </a:p>
        </p:txBody>
      </p:sp>
      <p:sp>
        <p:nvSpPr>
          <p:cNvPr id="2" name="TextBox 1">
            <a:extLst>
              <a:ext uri="{FF2B5EF4-FFF2-40B4-BE49-F238E27FC236}">
                <a16:creationId xmlns:a16="http://schemas.microsoft.com/office/drawing/2014/main" id="{CBC3F842-0AB5-639F-DAC5-8B03C7CE1B0E}"/>
              </a:ext>
            </a:extLst>
          </p:cNvPr>
          <p:cNvSpPr txBox="1"/>
          <p:nvPr/>
        </p:nvSpPr>
        <p:spPr>
          <a:xfrm>
            <a:off x="960628" y="4100991"/>
            <a:ext cx="5445539" cy="369332"/>
          </a:xfrm>
          <a:prstGeom prst="rect">
            <a:avLst/>
          </a:prstGeom>
          <a:noFill/>
        </p:spPr>
        <p:txBody>
          <a:bodyPr wrap="square" rtlCol="0">
            <a:spAutoFit/>
          </a:bodyPr>
          <a:lstStyle/>
          <a:p>
            <a:pPr>
              <a:spcAft>
                <a:spcPts val="1200"/>
              </a:spcAft>
            </a:pPr>
            <a:r>
              <a:rPr lang="en-US" altLang="ko-KR" dirty="0">
                <a:latin typeface="Courier New" panose="02070309020205020404" pitchFamily="49" charset="0"/>
                <a:cs typeface="Courier New" panose="02070309020205020404" pitchFamily="49" charset="0"/>
              </a:rPr>
              <a:t>21101395 Kwon Jun Hyuk</a:t>
            </a:r>
          </a:p>
        </p:txBody>
      </p:sp>
    </p:spTree>
    <p:extLst>
      <p:ext uri="{BB962C8B-B14F-4D97-AF65-F5344CB8AC3E}">
        <p14:creationId xmlns:p14="http://schemas.microsoft.com/office/powerpoint/2010/main" val="2033672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도표, 텍스트, 평면도, 기술 도면이(가) 표시된 사진&#10;&#10;AI 생성 콘텐츠는 정확하지 않을 수 있습니다.">
            <a:extLst>
              <a:ext uri="{FF2B5EF4-FFF2-40B4-BE49-F238E27FC236}">
                <a16:creationId xmlns:a16="http://schemas.microsoft.com/office/drawing/2014/main" id="{78575DD1-7F83-8A88-EBE6-70747A75C194}"/>
              </a:ext>
            </a:extLst>
          </p:cNvPr>
          <p:cNvPicPr>
            <a:picLocks noChangeAspect="1"/>
          </p:cNvPicPr>
          <p:nvPr/>
        </p:nvPicPr>
        <p:blipFill>
          <a:blip r:embed="rId2"/>
          <a:stretch>
            <a:fillRect/>
          </a:stretch>
        </p:blipFill>
        <p:spPr>
          <a:xfrm>
            <a:off x="3894896" y="1429678"/>
            <a:ext cx="4402207" cy="4740381"/>
          </a:xfrm>
          <a:prstGeom prst="rect">
            <a:avLst/>
          </a:prstGeom>
        </p:spPr>
      </p:pic>
      <p:sp>
        <p:nvSpPr>
          <p:cNvPr id="10" name="TextBox 9">
            <a:extLst>
              <a:ext uri="{FF2B5EF4-FFF2-40B4-BE49-F238E27FC236}">
                <a16:creationId xmlns:a16="http://schemas.microsoft.com/office/drawing/2014/main" id="{4171AEA9-D417-FDD6-3EBD-64CF53D4A4BD}"/>
              </a:ext>
            </a:extLst>
          </p:cNvPr>
          <p:cNvSpPr txBox="1"/>
          <p:nvPr/>
        </p:nvSpPr>
        <p:spPr>
          <a:xfrm>
            <a:off x="308965" y="999103"/>
            <a:ext cx="3360992" cy="5601533"/>
          </a:xfrm>
          <a:prstGeom prst="rect">
            <a:avLst/>
          </a:prstGeom>
          <a:noFill/>
        </p:spPr>
        <p:txBody>
          <a:bodyPr wrap="square" rtlCol="0">
            <a:spAutoFit/>
          </a:bodyPr>
          <a:lstStyle/>
          <a:p>
            <a:pPr algn="ctr">
              <a:spcAft>
                <a:spcPts val="1200"/>
              </a:spcAft>
            </a:pPr>
            <a:r>
              <a:rPr lang="en-US" altLang="ko-KR" sz="1600" dirty="0">
                <a:latin typeface="Courier New" panose="02070309020205020404" pitchFamily="49" charset="0"/>
                <a:cs typeface="Courier New" panose="02070309020205020404" pitchFamily="49" charset="0"/>
              </a:rPr>
              <a:t>※ Operations ※ </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To perform encryption, input the plaintext message using the keyboard. The encrypted output will be displayed sequentially through the lightbulb panel.</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For decryption, re-enter the encrypted message into the keyboard using the exact same plugboard and rotor settings as used during encryption. The original plaintext will then be output through the lightbulb panel. </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To enhance the security of the machine, both the plugboard and the rotors can be reconfigured. The plugboard enables customizable letter-pair substitutions. The rotors themselves can be replaced with different ones, represented by changes in the programmable logic array. Additionally, the rotors can be set to various initial positions, which can be implemented by using counters. </a:t>
            </a:r>
          </a:p>
        </p:txBody>
      </p:sp>
      <p:sp>
        <p:nvSpPr>
          <p:cNvPr id="13" name="제목 1">
            <a:extLst>
              <a:ext uri="{FF2B5EF4-FFF2-40B4-BE49-F238E27FC236}">
                <a16:creationId xmlns:a16="http://schemas.microsoft.com/office/drawing/2014/main" id="{08F856E3-6D89-FEBA-5E12-9A67ADA7DC2B}"/>
              </a:ext>
            </a:extLst>
          </p:cNvPr>
          <p:cNvSpPr>
            <a:spLocks noGrp="1"/>
          </p:cNvSpPr>
          <p:nvPr>
            <p:ph type="title"/>
          </p:nvPr>
        </p:nvSpPr>
        <p:spPr>
          <a:xfrm>
            <a:off x="3132395" y="158509"/>
            <a:ext cx="5927207" cy="840593"/>
          </a:xfrm>
          <a:custGeom>
            <a:avLst/>
            <a:gdLst>
              <a:gd name="connsiteX0" fmla="*/ 0 w 5927207"/>
              <a:gd name="connsiteY0" fmla="*/ 0 h 840593"/>
              <a:gd name="connsiteX1" fmla="*/ 414904 w 5927207"/>
              <a:gd name="connsiteY1" fmla="*/ 0 h 840593"/>
              <a:gd name="connsiteX2" fmla="*/ 1126169 w 5927207"/>
              <a:gd name="connsiteY2" fmla="*/ 0 h 840593"/>
              <a:gd name="connsiteX3" fmla="*/ 1778162 w 5927207"/>
              <a:gd name="connsiteY3" fmla="*/ 0 h 840593"/>
              <a:gd name="connsiteX4" fmla="*/ 2193067 w 5927207"/>
              <a:gd name="connsiteY4" fmla="*/ 0 h 840593"/>
              <a:gd name="connsiteX5" fmla="*/ 2726515 w 5927207"/>
              <a:gd name="connsiteY5" fmla="*/ 0 h 840593"/>
              <a:gd name="connsiteX6" fmla="*/ 3437780 w 5927207"/>
              <a:gd name="connsiteY6" fmla="*/ 0 h 840593"/>
              <a:gd name="connsiteX7" fmla="*/ 4030501 w 5927207"/>
              <a:gd name="connsiteY7" fmla="*/ 0 h 840593"/>
              <a:gd name="connsiteX8" fmla="*/ 4682494 w 5927207"/>
              <a:gd name="connsiteY8" fmla="*/ 0 h 840593"/>
              <a:gd name="connsiteX9" fmla="*/ 5215942 w 5927207"/>
              <a:gd name="connsiteY9" fmla="*/ 0 h 840593"/>
              <a:gd name="connsiteX10" fmla="*/ 5927207 w 5927207"/>
              <a:gd name="connsiteY10" fmla="*/ 0 h 840593"/>
              <a:gd name="connsiteX11" fmla="*/ 5927207 w 5927207"/>
              <a:gd name="connsiteY11" fmla="*/ 437108 h 840593"/>
              <a:gd name="connsiteX12" fmla="*/ 5927207 w 5927207"/>
              <a:gd name="connsiteY12" fmla="*/ 840593 h 840593"/>
              <a:gd name="connsiteX13" fmla="*/ 5512303 w 5927207"/>
              <a:gd name="connsiteY13" fmla="*/ 840593 h 840593"/>
              <a:gd name="connsiteX14" fmla="*/ 5097398 w 5927207"/>
              <a:gd name="connsiteY14" fmla="*/ 840593 h 840593"/>
              <a:gd name="connsiteX15" fmla="*/ 4445405 w 5927207"/>
              <a:gd name="connsiteY15" fmla="*/ 840593 h 840593"/>
              <a:gd name="connsiteX16" fmla="*/ 4030501 w 5927207"/>
              <a:gd name="connsiteY16" fmla="*/ 840593 h 840593"/>
              <a:gd name="connsiteX17" fmla="*/ 3437780 w 5927207"/>
              <a:gd name="connsiteY17" fmla="*/ 840593 h 840593"/>
              <a:gd name="connsiteX18" fmla="*/ 2963604 w 5927207"/>
              <a:gd name="connsiteY18" fmla="*/ 840593 h 840593"/>
              <a:gd name="connsiteX19" fmla="*/ 2370883 w 5927207"/>
              <a:gd name="connsiteY19" fmla="*/ 840593 h 840593"/>
              <a:gd name="connsiteX20" fmla="*/ 1778162 w 5927207"/>
              <a:gd name="connsiteY20" fmla="*/ 840593 h 840593"/>
              <a:gd name="connsiteX21" fmla="*/ 1185441 w 5927207"/>
              <a:gd name="connsiteY21" fmla="*/ 840593 h 840593"/>
              <a:gd name="connsiteX22" fmla="*/ 592721 w 5927207"/>
              <a:gd name="connsiteY22" fmla="*/ 840593 h 840593"/>
              <a:gd name="connsiteX23" fmla="*/ 0 w 5927207"/>
              <a:gd name="connsiteY23" fmla="*/ 840593 h 840593"/>
              <a:gd name="connsiteX24" fmla="*/ 0 w 5927207"/>
              <a:gd name="connsiteY24" fmla="*/ 411891 h 840593"/>
              <a:gd name="connsiteX25" fmla="*/ 0 w 5927207"/>
              <a:gd name="connsiteY25" fmla="*/ 0 h 84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27207" h="840593" fill="none" extrusionOk="0">
                <a:moveTo>
                  <a:pt x="0" y="0"/>
                </a:moveTo>
                <a:cubicBezTo>
                  <a:pt x="112332" y="-5349"/>
                  <a:pt x="299986" y="47703"/>
                  <a:pt x="414904" y="0"/>
                </a:cubicBezTo>
                <a:cubicBezTo>
                  <a:pt x="529822" y="-47703"/>
                  <a:pt x="966475" y="38967"/>
                  <a:pt x="1126169" y="0"/>
                </a:cubicBezTo>
                <a:cubicBezTo>
                  <a:pt x="1285863" y="-38967"/>
                  <a:pt x="1465289" y="502"/>
                  <a:pt x="1778162" y="0"/>
                </a:cubicBezTo>
                <a:cubicBezTo>
                  <a:pt x="2091035" y="-502"/>
                  <a:pt x="2013290" y="11188"/>
                  <a:pt x="2193067" y="0"/>
                </a:cubicBezTo>
                <a:cubicBezTo>
                  <a:pt x="2372844" y="-11188"/>
                  <a:pt x="2477791" y="24684"/>
                  <a:pt x="2726515" y="0"/>
                </a:cubicBezTo>
                <a:cubicBezTo>
                  <a:pt x="2975239" y="-24684"/>
                  <a:pt x="3174086" y="46505"/>
                  <a:pt x="3437780" y="0"/>
                </a:cubicBezTo>
                <a:cubicBezTo>
                  <a:pt x="3701474" y="-46505"/>
                  <a:pt x="3810924" y="64184"/>
                  <a:pt x="4030501" y="0"/>
                </a:cubicBezTo>
                <a:cubicBezTo>
                  <a:pt x="4250078" y="-64184"/>
                  <a:pt x="4456894" y="13872"/>
                  <a:pt x="4682494" y="0"/>
                </a:cubicBezTo>
                <a:cubicBezTo>
                  <a:pt x="4908094" y="-13872"/>
                  <a:pt x="5042663" y="48212"/>
                  <a:pt x="5215942" y="0"/>
                </a:cubicBezTo>
                <a:cubicBezTo>
                  <a:pt x="5389221" y="-48212"/>
                  <a:pt x="5678665" y="9962"/>
                  <a:pt x="5927207" y="0"/>
                </a:cubicBezTo>
                <a:cubicBezTo>
                  <a:pt x="5969797" y="207192"/>
                  <a:pt x="5901065" y="295311"/>
                  <a:pt x="5927207" y="437108"/>
                </a:cubicBezTo>
                <a:cubicBezTo>
                  <a:pt x="5953349" y="578905"/>
                  <a:pt x="5909425" y="644278"/>
                  <a:pt x="5927207" y="840593"/>
                </a:cubicBezTo>
                <a:cubicBezTo>
                  <a:pt x="5767764" y="847689"/>
                  <a:pt x="5702993" y="796526"/>
                  <a:pt x="5512303" y="840593"/>
                </a:cubicBezTo>
                <a:cubicBezTo>
                  <a:pt x="5321613" y="884660"/>
                  <a:pt x="5300334" y="835854"/>
                  <a:pt x="5097398" y="840593"/>
                </a:cubicBezTo>
                <a:cubicBezTo>
                  <a:pt x="4894463" y="845332"/>
                  <a:pt x="4610937" y="833453"/>
                  <a:pt x="4445405" y="840593"/>
                </a:cubicBezTo>
                <a:cubicBezTo>
                  <a:pt x="4279873" y="847733"/>
                  <a:pt x="4230782" y="834076"/>
                  <a:pt x="4030501" y="840593"/>
                </a:cubicBezTo>
                <a:cubicBezTo>
                  <a:pt x="3830220" y="847110"/>
                  <a:pt x="3597508" y="812248"/>
                  <a:pt x="3437780" y="840593"/>
                </a:cubicBezTo>
                <a:cubicBezTo>
                  <a:pt x="3278052" y="868938"/>
                  <a:pt x="3095267" y="809501"/>
                  <a:pt x="2963604" y="840593"/>
                </a:cubicBezTo>
                <a:cubicBezTo>
                  <a:pt x="2831941" y="871685"/>
                  <a:pt x="2589581" y="797598"/>
                  <a:pt x="2370883" y="840593"/>
                </a:cubicBezTo>
                <a:cubicBezTo>
                  <a:pt x="2152185" y="883588"/>
                  <a:pt x="1911288" y="832024"/>
                  <a:pt x="1778162" y="840593"/>
                </a:cubicBezTo>
                <a:cubicBezTo>
                  <a:pt x="1645036" y="849162"/>
                  <a:pt x="1423855" y="790309"/>
                  <a:pt x="1185441" y="840593"/>
                </a:cubicBezTo>
                <a:cubicBezTo>
                  <a:pt x="947027" y="890877"/>
                  <a:pt x="857791" y="830511"/>
                  <a:pt x="592721" y="840593"/>
                </a:cubicBezTo>
                <a:cubicBezTo>
                  <a:pt x="327651" y="850675"/>
                  <a:pt x="168368" y="813116"/>
                  <a:pt x="0" y="840593"/>
                </a:cubicBezTo>
                <a:cubicBezTo>
                  <a:pt x="-8868" y="750624"/>
                  <a:pt x="43702" y="552804"/>
                  <a:pt x="0" y="411891"/>
                </a:cubicBezTo>
                <a:cubicBezTo>
                  <a:pt x="-43702" y="270978"/>
                  <a:pt x="7355" y="182586"/>
                  <a:pt x="0" y="0"/>
                </a:cubicBezTo>
                <a:close/>
              </a:path>
              <a:path w="5927207" h="840593" stroke="0" extrusionOk="0">
                <a:moveTo>
                  <a:pt x="0" y="0"/>
                </a:moveTo>
                <a:cubicBezTo>
                  <a:pt x="217018" y="-43483"/>
                  <a:pt x="331738" y="55266"/>
                  <a:pt x="533449" y="0"/>
                </a:cubicBezTo>
                <a:cubicBezTo>
                  <a:pt x="735160" y="-55266"/>
                  <a:pt x="801821" y="11048"/>
                  <a:pt x="948353" y="0"/>
                </a:cubicBezTo>
                <a:cubicBezTo>
                  <a:pt x="1094885" y="-11048"/>
                  <a:pt x="1441059" y="7224"/>
                  <a:pt x="1659618" y="0"/>
                </a:cubicBezTo>
                <a:cubicBezTo>
                  <a:pt x="1878177" y="-7224"/>
                  <a:pt x="1929079" y="63509"/>
                  <a:pt x="2193067" y="0"/>
                </a:cubicBezTo>
                <a:cubicBezTo>
                  <a:pt x="2457055" y="-63509"/>
                  <a:pt x="2491388" y="47329"/>
                  <a:pt x="2726515" y="0"/>
                </a:cubicBezTo>
                <a:cubicBezTo>
                  <a:pt x="2961642" y="-47329"/>
                  <a:pt x="3110398" y="73803"/>
                  <a:pt x="3437780" y="0"/>
                </a:cubicBezTo>
                <a:cubicBezTo>
                  <a:pt x="3765163" y="-73803"/>
                  <a:pt x="3796678" y="2405"/>
                  <a:pt x="3911957" y="0"/>
                </a:cubicBezTo>
                <a:cubicBezTo>
                  <a:pt x="4027236" y="-2405"/>
                  <a:pt x="4313961" y="64899"/>
                  <a:pt x="4623221" y="0"/>
                </a:cubicBezTo>
                <a:cubicBezTo>
                  <a:pt x="4932481" y="-64899"/>
                  <a:pt x="5033616" y="14750"/>
                  <a:pt x="5334486" y="0"/>
                </a:cubicBezTo>
                <a:cubicBezTo>
                  <a:pt x="5635356" y="-14750"/>
                  <a:pt x="5786486" y="19897"/>
                  <a:pt x="5927207" y="0"/>
                </a:cubicBezTo>
                <a:cubicBezTo>
                  <a:pt x="5948096" y="207586"/>
                  <a:pt x="5911425" y="311221"/>
                  <a:pt x="5927207" y="437108"/>
                </a:cubicBezTo>
                <a:cubicBezTo>
                  <a:pt x="5942989" y="562995"/>
                  <a:pt x="5886349" y="715152"/>
                  <a:pt x="5927207" y="840593"/>
                </a:cubicBezTo>
                <a:cubicBezTo>
                  <a:pt x="5801110" y="845376"/>
                  <a:pt x="5673728" y="816512"/>
                  <a:pt x="5512303" y="840593"/>
                </a:cubicBezTo>
                <a:cubicBezTo>
                  <a:pt x="5350878" y="864674"/>
                  <a:pt x="5141161" y="765898"/>
                  <a:pt x="4801038" y="840593"/>
                </a:cubicBezTo>
                <a:cubicBezTo>
                  <a:pt x="4460916" y="915288"/>
                  <a:pt x="4440602" y="805134"/>
                  <a:pt x="4326861" y="840593"/>
                </a:cubicBezTo>
                <a:cubicBezTo>
                  <a:pt x="4213120" y="876052"/>
                  <a:pt x="3853786" y="816278"/>
                  <a:pt x="3734140" y="840593"/>
                </a:cubicBezTo>
                <a:cubicBezTo>
                  <a:pt x="3614494" y="864908"/>
                  <a:pt x="3256852" y="787168"/>
                  <a:pt x="3022876" y="840593"/>
                </a:cubicBezTo>
                <a:cubicBezTo>
                  <a:pt x="2788900" y="894018"/>
                  <a:pt x="2555593" y="774852"/>
                  <a:pt x="2430155" y="840593"/>
                </a:cubicBezTo>
                <a:cubicBezTo>
                  <a:pt x="2304717" y="906334"/>
                  <a:pt x="2154542" y="836170"/>
                  <a:pt x="2015250" y="840593"/>
                </a:cubicBezTo>
                <a:cubicBezTo>
                  <a:pt x="1875959" y="845016"/>
                  <a:pt x="1735004" y="799088"/>
                  <a:pt x="1541074" y="840593"/>
                </a:cubicBezTo>
                <a:cubicBezTo>
                  <a:pt x="1347144" y="882098"/>
                  <a:pt x="1169944" y="773686"/>
                  <a:pt x="829809" y="840593"/>
                </a:cubicBezTo>
                <a:cubicBezTo>
                  <a:pt x="489674" y="907500"/>
                  <a:pt x="336773" y="801710"/>
                  <a:pt x="0" y="840593"/>
                </a:cubicBezTo>
                <a:cubicBezTo>
                  <a:pt x="-22803" y="648182"/>
                  <a:pt x="2027" y="630771"/>
                  <a:pt x="0" y="437108"/>
                </a:cubicBezTo>
                <a:cubicBezTo>
                  <a:pt x="-2027" y="243445"/>
                  <a:pt x="28299" y="180406"/>
                  <a:pt x="0" y="0"/>
                </a:cubicBezTo>
                <a:close/>
              </a:path>
            </a:pathLst>
          </a:custGeom>
          <a:blipFill dpi="0" rotWithShape="1">
            <a:blip r:embed="rId3"/>
            <a:srcRect/>
            <a:tile tx="0" ty="0" sx="100000" sy="100000" flip="none" algn="tl"/>
          </a:blipFill>
          <a:ln>
            <a:solidFill>
              <a:schemeClr val="tx1"/>
            </a:solidFill>
            <a:extLst>
              <a:ext uri="{C807C97D-BFC1-408E-A445-0C87EB9F89A2}">
                <ask:lineSketchStyleProps xmlns:ask="http://schemas.microsoft.com/office/drawing/2018/sketchyshapes" sd="1219033472">
                  <ask:type>
                    <ask:lineSketchScribble/>
                  </ask:type>
                </ask:lineSketchStyleProps>
              </a:ext>
            </a:extLst>
          </a:ln>
        </p:spPr>
        <p:txBody>
          <a:bodyPr>
            <a:normAutofit/>
          </a:bodyPr>
          <a:lstStyle/>
          <a:p>
            <a:pPr algn="ctr"/>
            <a:r>
              <a:rPr kumimoji="1" lang="en-US" altLang="ko-KR" sz="4000" dirty="0">
                <a:solidFill>
                  <a:schemeClr val="bg1"/>
                </a:solidFill>
                <a:latin typeface="Courier New" panose="02070309020205020404" pitchFamily="49" charset="0"/>
                <a:cs typeface="Courier New" panose="02070309020205020404" pitchFamily="49" charset="0"/>
              </a:rPr>
              <a:t>The Enigma Machine</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
        <p:nvSpPr>
          <p:cNvPr id="14" name="TextBox 13">
            <a:extLst>
              <a:ext uri="{FF2B5EF4-FFF2-40B4-BE49-F238E27FC236}">
                <a16:creationId xmlns:a16="http://schemas.microsoft.com/office/drawing/2014/main" id="{1DA13892-0834-5DE2-527E-5DE704A75B77}"/>
              </a:ext>
            </a:extLst>
          </p:cNvPr>
          <p:cNvSpPr txBox="1"/>
          <p:nvPr/>
        </p:nvSpPr>
        <p:spPr>
          <a:xfrm>
            <a:off x="8522042" y="999103"/>
            <a:ext cx="3360992" cy="5724644"/>
          </a:xfrm>
          <a:prstGeom prst="rect">
            <a:avLst/>
          </a:prstGeom>
          <a:noFill/>
        </p:spPr>
        <p:txBody>
          <a:bodyPr wrap="square" rtlCol="0">
            <a:spAutoFit/>
          </a:bodyPr>
          <a:lstStyle/>
          <a:p>
            <a:pPr algn="ctr">
              <a:spcAft>
                <a:spcPts val="1200"/>
              </a:spcAft>
            </a:pPr>
            <a:r>
              <a:rPr lang="en-US" altLang="ko-KR" sz="1600" dirty="0">
                <a:latin typeface="Courier New" panose="02070309020205020404" pitchFamily="49" charset="0"/>
                <a:cs typeface="Courier New" panose="02070309020205020404" pitchFamily="49" charset="0"/>
              </a:rPr>
              <a:t>※ Precautions ※ </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The plugboard and its inverse configuration must be precisely matched to ensure correct encryption and decryption. </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M1 [load] should be set to 0, and M2 [count] to 1, M3 [up] and M4 [down] must be set to 1 and 0 respectively. Additionally, G5 Should be set to 1.</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A</a:t>
            </a:r>
            <a:r>
              <a:rPr lang="en-US" altLang="ko-KR" sz="1200">
                <a:latin typeface="Courier New" panose="02070309020205020404" pitchFamily="49" charset="0"/>
                <a:cs typeface="Courier New" panose="02070309020205020404" pitchFamily="49" charset="0"/>
              </a:rPr>
              <a:t> </a:t>
            </a:r>
            <a:r>
              <a:rPr lang="en-US" altLang="ko-KR" sz="1200" dirty="0">
                <a:latin typeface="Courier New" panose="02070309020205020404" pitchFamily="49" charset="0"/>
                <a:cs typeface="Courier New" panose="02070309020205020404" pitchFamily="49" charset="0"/>
              </a:rPr>
              <a:t>single input pin to each of the adder, subtractor, and comparator units should be initialized to the binary value 11010.</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Likewise, the programmable logic array of each rotor must be the exact inverse of that used in its corresponding inverse rotor. </a:t>
            </a:r>
          </a:p>
          <a:p>
            <a:pPr marL="285750" indent="-285750">
              <a:spcAft>
                <a:spcPts val="1200"/>
              </a:spcAft>
              <a:buFont typeface="Arial" panose="020B0604020202020204" pitchFamily="34" charset="0"/>
              <a:buChar char="•"/>
            </a:pPr>
            <a:r>
              <a:rPr lang="en-US" altLang="ko-KR" sz="1200" dirty="0">
                <a:latin typeface="Courier New" panose="02070309020205020404" pitchFamily="49" charset="0"/>
                <a:cs typeface="Courier New" panose="02070309020205020404" pitchFamily="49" charset="0"/>
              </a:rPr>
              <a:t>Additionally, the counter value of each rotor must be identical to the state of its corresponding inverse rotor at the time of encryption. </a:t>
            </a:r>
          </a:p>
        </p:txBody>
      </p:sp>
    </p:spTree>
    <p:extLst>
      <p:ext uri="{BB962C8B-B14F-4D97-AF65-F5344CB8AC3E}">
        <p14:creationId xmlns:p14="http://schemas.microsoft.com/office/powerpoint/2010/main" val="3296356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내용 개체 틀 8" descr="사무 장비, 스페이스 바, 사무용품, 키보드이(가) 표시된 사진&#10;&#10;AI 생성 콘텐츠는 정확하지 않을 수 있습니다.">
            <a:extLst>
              <a:ext uri="{FF2B5EF4-FFF2-40B4-BE49-F238E27FC236}">
                <a16:creationId xmlns:a16="http://schemas.microsoft.com/office/drawing/2014/main" id="{E7D262EB-F169-4A8D-541D-038EA4D56BDA}"/>
              </a:ext>
            </a:extLst>
          </p:cNvPr>
          <p:cNvPicPr>
            <a:picLocks noGrp="1" noChangeAspect="1"/>
          </p:cNvPicPr>
          <p:nvPr>
            <p:ph idx="1"/>
          </p:nvPr>
        </p:nvPicPr>
        <p:blipFill>
          <a:blip r:embed="rId2"/>
          <a:stretch>
            <a:fillRect/>
          </a:stretch>
        </p:blipFill>
        <p:spPr>
          <a:xfrm>
            <a:off x="6969212" y="804302"/>
            <a:ext cx="4477593" cy="3350732"/>
          </a:xfrm>
          <a:effectLst>
            <a:glow rad="228600">
              <a:schemeClr val="accent2">
                <a:satMod val="175000"/>
                <a:alpha val="40000"/>
              </a:schemeClr>
            </a:glow>
            <a:softEdge rad="0"/>
          </a:effectLst>
        </p:spPr>
      </p:pic>
      <p:pic>
        <p:nvPicPr>
          <p:cNvPr id="4" name="그림 3" descr="텍스트, 스크린샷, 폰트, 그래픽이(가) 표시된 사진&#10;&#10;AI 생성 콘텐츠는 정확하지 않을 수 있습니다.">
            <a:extLst>
              <a:ext uri="{FF2B5EF4-FFF2-40B4-BE49-F238E27FC236}">
                <a16:creationId xmlns:a16="http://schemas.microsoft.com/office/drawing/2014/main" id="{AE7F86DC-64E1-8206-53E4-A8FB88D40661}"/>
              </a:ext>
            </a:extLst>
          </p:cNvPr>
          <p:cNvPicPr>
            <a:picLocks noChangeAspect="1"/>
          </p:cNvPicPr>
          <p:nvPr/>
        </p:nvPicPr>
        <p:blipFill>
          <a:blip r:embed="rId3"/>
          <a:stretch>
            <a:fillRect/>
          </a:stretch>
        </p:blipFill>
        <p:spPr>
          <a:xfrm>
            <a:off x="6993926" y="4443225"/>
            <a:ext cx="4452879" cy="1724879"/>
          </a:xfrm>
          <a:prstGeom prst="rect">
            <a:avLst/>
          </a:prstGeom>
          <a:effectLst>
            <a:softEdge rad="0"/>
          </a:effectLst>
        </p:spPr>
      </p:pic>
      <p:sp>
        <p:nvSpPr>
          <p:cNvPr id="7" name="TextBox 6">
            <a:extLst>
              <a:ext uri="{FF2B5EF4-FFF2-40B4-BE49-F238E27FC236}">
                <a16:creationId xmlns:a16="http://schemas.microsoft.com/office/drawing/2014/main" id="{EBF134FE-A34B-4C1F-4606-8EB487EE2181}"/>
              </a:ext>
            </a:extLst>
          </p:cNvPr>
          <p:cNvSpPr txBox="1"/>
          <p:nvPr/>
        </p:nvSpPr>
        <p:spPr>
          <a:xfrm>
            <a:off x="806980" y="1988410"/>
            <a:ext cx="5445539" cy="1354217"/>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altLang="ko-KR" dirty="0">
                <a:latin typeface="Courier New" panose="02070309020205020404" pitchFamily="49" charset="0"/>
                <a:cs typeface="Courier New" panose="02070309020205020404" pitchFamily="49" charset="0"/>
              </a:rPr>
              <a:t>The keyboard is constructed using button and tunnel circuits. </a:t>
            </a:r>
          </a:p>
          <a:p>
            <a:pPr marL="285750" indent="-285750">
              <a:spcAft>
                <a:spcPts val="1200"/>
              </a:spcAft>
              <a:buFont typeface="Arial" panose="020B0604020202020204" pitchFamily="34" charset="0"/>
              <a:buChar char="•"/>
            </a:pPr>
            <a:r>
              <a:rPr lang="en-US" altLang="ko-KR" dirty="0">
                <a:latin typeface="Courier New" panose="02070309020205020404" pitchFamily="49" charset="0"/>
                <a:cs typeface="Courier New" panose="02070309020205020404" pitchFamily="49" charset="0"/>
              </a:rPr>
              <a:t>This channels the alphabetical electrical signals to the plugboard. </a:t>
            </a:r>
          </a:p>
        </p:txBody>
      </p:sp>
      <p:sp>
        <p:nvSpPr>
          <p:cNvPr id="11" name="제목 1">
            <a:extLst>
              <a:ext uri="{FF2B5EF4-FFF2-40B4-BE49-F238E27FC236}">
                <a16:creationId xmlns:a16="http://schemas.microsoft.com/office/drawing/2014/main" id="{A18664DA-2935-BA24-F45B-ED110D181FFB}"/>
              </a:ext>
            </a:extLst>
          </p:cNvPr>
          <p:cNvSpPr txBox="1">
            <a:spLocks/>
          </p:cNvSpPr>
          <p:nvPr/>
        </p:nvSpPr>
        <p:spPr>
          <a:xfrm>
            <a:off x="806980" y="804302"/>
            <a:ext cx="5445539" cy="923331"/>
          </a:xfrm>
          <a:custGeom>
            <a:avLst/>
            <a:gdLst>
              <a:gd name="connsiteX0" fmla="*/ 0 w 5445539"/>
              <a:gd name="connsiteY0" fmla="*/ 0 h 923331"/>
              <a:gd name="connsiteX1" fmla="*/ 381188 w 5445539"/>
              <a:gd name="connsiteY1" fmla="*/ 0 h 923331"/>
              <a:gd name="connsiteX2" fmla="*/ 1034652 w 5445539"/>
              <a:gd name="connsiteY2" fmla="*/ 0 h 923331"/>
              <a:gd name="connsiteX3" fmla="*/ 1633662 w 5445539"/>
              <a:gd name="connsiteY3" fmla="*/ 0 h 923331"/>
              <a:gd name="connsiteX4" fmla="*/ 2014849 w 5445539"/>
              <a:gd name="connsiteY4" fmla="*/ 0 h 923331"/>
              <a:gd name="connsiteX5" fmla="*/ 2504948 w 5445539"/>
              <a:gd name="connsiteY5" fmla="*/ 0 h 923331"/>
              <a:gd name="connsiteX6" fmla="*/ 3158413 w 5445539"/>
              <a:gd name="connsiteY6" fmla="*/ 0 h 923331"/>
              <a:gd name="connsiteX7" fmla="*/ 3702967 w 5445539"/>
              <a:gd name="connsiteY7" fmla="*/ 0 h 923331"/>
              <a:gd name="connsiteX8" fmla="*/ 4301976 w 5445539"/>
              <a:gd name="connsiteY8" fmla="*/ 0 h 923331"/>
              <a:gd name="connsiteX9" fmla="*/ 4792074 w 5445539"/>
              <a:gd name="connsiteY9" fmla="*/ 0 h 923331"/>
              <a:gd name="connsiteX10" fmla="*/ 5445539 w 5445539"/>
              <a:gd name="connsiteY10" fmla="*/ 0 h 923331"/>
              <a:gd name="connsiteX11" fmla="*/ 5445539 w 5445539"/>
              <a:gd name="connsiteY11" fmla="*/ 480132 h 923331"/>
              <a:gd name="connsiteX12" fmla="*/ 5445539 w 5445539"/>
              <a:gd name="connsiteY12" fmla="*/ 923331 h 923331"/>
              <a:gd name="connsiteX13" fmla="*/ 5064351 w 5445539"/>
              <a:gd name="connsiteY13" fmla="*/ 923331 h 923331"/>
              <a:gd name="connsiteX14" fmla="*/ 4683164 w 5445539"/>
              <a:gd name="connsiteY14" fmla="*/ 923331 h 923331"/>
              <a:gd name="connsiteX15" fmla="*/ 4084154 w 5445539"/>
              <a:gd name="connsiteY15" fmla="*/ 923331 h 923331"/>
              <a:gd name="connsiteX16" fmla="*/ 3702967 w 5445539"/>
              <a:gd name="connsiteY16" fmla="*/ 923331 h 923331"/>
              <a:gd name="connsiteX17" fmla="*/ 3158413 w 5445539"/>
              <a:gd name="connsiteY17" fmla="*/ 923331 h 923331"/>
              <a:gd name="connsiteX18" fmla="*/ 2722770 w 5445539"/>
              <a:gd name="connsiteY18" fmla="*/ 923331 h 923331"/>
              <a:gd name="connsiteX19" fmla="*/ 2178216 w 5445539"/>
              <a:gd name="connsiteY19" fmla="*/ 923331 h 923331"/>
              <a:gd name="connsiteX20" fmla="*/ 1633662 w 5445539"/>
              <a:gd name="connsiteY20" fmla="*/ 923331 h 923331"/>
              <a:gd name="connsiteX21" fmla="*/ 1089108 w 5445539"/>
              <a:gd name="connsiteY21" fmla="*/ 923331 h 923331"/>
              <a:gd name="connsiteX22" fmla="*/ 544554 w 5445539"/>
              <a:gd name="connsiteY22" fmla="*/ 923331 h 923331"/>
              <a:gd name="connsiteX23" fmla="*/ 0 w 5445539"/>
              <a:gd name="connsiteY23" fmla="*/ 923331 h 923331"/>
              <a:gd name="connsiteX24" fmla="*/ 0 w 5445539"/>
              <a:gd name="connsiteY24" fmla="*/ 452432 h 923331"/>
              <a:gd name="connsiteX25" fmla="*/ 0 w 5445539"/>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45539" h="923331" fill="none" extrusionOk="0">
                <a:moveTo>
                  <a:pt x="0" y="0"/>
                </a:moveTo>
                <a:cubicBezTo>
                  <a:pt x="157272" y="-20773"/>
                  <a:pt x="276437" y="20277"/>
                  <a:pt x="381188" y="0"/>
                </a:cubicBezTo>
                <a:cubicBezTo>
                  <a:pt x="485939" y="-20277"/>
                  <a:pt x="722354" y="38511"/>
                  <a:pt x="1034652" y="0"/>
                </a:cubicBezTo>
                <a:cubicBezTo>
                  <a:pt x="1346950" y="-38511"/>
                  <a:pt x="1407114" y="34286"/>
                  <a:pt x="1633662" y="0"/>
                </a:cubicBezTo>
                <a:cubicBezTo>
                  <a:pt x="1860210" y="-34286"/>
                  <a:pt x="1934375" y="5936"/>
                  <a:pt x="2014849" y="0"/>
                </a:cubicBezTo>
                <a:cubicBezTo>
                  <a:pt x="2095323" y="-5936"/>
                  <a:pt x="2293497" y="6722"/>
                  <a:pt x="2504948" y="0"/>
                </a:cubicBezTo>
                <a:cubicBezTo>
                  <a:pt x="2716399" y="-6722"/>
                  <a:pt x="2964293" y="18720"/>
                  <a:pt x="3158413" y="0"/>
                </a:cubicBezTo>
                <a:cubicBezTo>
                  <a:pt x="3352534" y="-18720"/>
                  <a:pt x="3580788" y="60547"/>
                  <a:pt x="3702967" y="0"/>
                </a:cubicBezTo>
                <a:cubicBezTo>
                  <a:pt x="3825146" y="-60547"/>
                  <a:pt x="4090060" y="44927"/>
                  <a:pt x="4301976" y="0"/>
                </a:cubicBezTo>
                <a:cubicBezTo>
                  <a:pt x="4513892" y="-44927"/>
                  <a:pt x="4623901" y="37072"/>
                  <a:pt x="4792074" y="0"/>
                </a:cubicBezTo>
                <a:cubicBezTo>
                  <a:pt x="4960247" y="-37072"/>
                  <a:pt x="5148180" y="50349"/>
                  <a:pt x="5445539" y="0"/>
                </a:cubicBezTo>
                <a:cubicBezTo>
                  <a:pt x="5497398" y="166644"/>
                  <a:pt x="5402216" y="295014"/>
                  <a:pt x="5445539" y="480132"/>
                </a:cubicBezTo>
                <a:cubicBezTo>
                  <a:pt x="5488862" y="665250"/>
                  <a:pt x="5427472" y="752512"/>
                  <a:pt x="5445539" y="923331"/>
                </a:cubicBezTo>
                <a:cubicBezTo>
                  <a:pt x="5314146" y="956506"/>
                  <a:pt x="5198524" y="907374"/>
                  <a:pt x="5064351" y="923331"/>
                </a:cubicBezTo>
                <a:cubicBezTo>
                  <a:pt x="4930178" y="939288"/>
                  <a:pt x="4814018" y="892421"/>
                  <a:pt x="4683164" y="923331"/>
                </a:cubicBezTo>
                <a:cubicBezTo>
                  <a:pt x="4552310" y="954241"/>
                  <a:pt x="4267416" y="923243"/>
                  <a:pt x="4084154" y="923331"/>
                </a:cubicBezTo>
                <a:cubicBezTo>
                  <a:pt x="3900892" y="923419"/>
                  <a:pt x="3877482" y="895289"/>
                  <a:pt x="3702967" y="923331"/>
                </a:cubicBezTo>
                <a:cubicBezTo>
                  <a:pt x="3528452" y="951373"/>
                  <a:pt x="3407727" y="868539"/>
                  <a:pt x="3158413" y="923331"/>
                </a:cubicBezTo>
                <a:cubicBezTo>
                  <a:pt x="2909099" y="978123"/>
                  <a:pt x="2898223" y="882954"/>
                  <a:pt x="2722770" y="923331"/>
                </a:cubicBezTo>
                <a:cubicBezTo>
                  <a:pt x="2547317" y="963708"/>
                  <a:pt x="2355202" y="880447"/>
                  <a:pt x="2178216" y="923331"/>
                </a:cubicBezTo>
                <a:cubicBezTo>
                  <a:pt x="2001230" y="966215"/>
                  <a:pt x="1758487" y="889149"/>
                  <a:pt x="1633662" y="923331"/>
                </a:cubicBezTo>
                <a:cubicBezTo>
                  <a:pt x="1508837" y="957513"/>
                  <a:pt x="1263469" y="915593"/>
                  <a:pt x="1089108" y="923331"/>
                </a:cubicBezTo>
                <a:cubicBezTo>
                  <a:pt x="914747" y="931069"/>
                  <a:pt x="697939" y="894937"/>
                  <a:pt x="544554" y="923331"/>
                </a:cubicBezTo>
                <a:cubicBezTo>
                  <a:pt x="391169" y="951725"/>
                  <a:pt x="149222" y="873481"/>
                  <a:pt x="0" y="923331"/>
                </a:cubicBezTo>
                <a:cubicBezTo>
                  <a:pt x="-8444" y="741602"/>
                  <a:pt x="48150" y="624398"/>
                  <a:pt x="0" y="452432"/>
                </a:cubicBezTo>
                <a:cubicBezTo>
                  <a:pt x="-48150" y="280466"/>
                  <a:pt x="44482" y="133400"/>
                  <a:pt x="0" y="0"/>
                </a:cubicBezTo>
                <a:close/>
              </a:path>
              <a:path w="5445539" h="923331" stroke="0" extrusionOk="0">
                <a:moveTo>
                  <a:pt x="0" y="0"/>
                </a:moveTo>
                <a:cubicBezTo>
                  <a:pt x="144145" y="-14347"/>
                  <a:pt x="371177" y="48808"/>
                  <a:pt x="490099" y="0"/>
                </a:cubicBezTo>
                <a:cubicBezTo>
                  <a:pt x="609021" y="-48808"/>
                  <a:pt x="689007" y="2093"/>
                  <a:pt x="871286" y="0"/>
                </a:cubicBezTo>
                <a:cubicBezTo>
                  <a:pt x="1053565" y="-2093"/>
                  <a:pt x="1229195" y="26776"/>
                  <a:pt x="1524751" y="0"/>
                </a:cubicBezTo>
                <a:cubicBezTo>
                  <a:pt x="1820308" y="-26776"/>
                  <a:pt x="1847975" y="44884"/>
                  <a:pt x="2014849" y="0"/>
                </a:cubicBezTo>
                <a:cubicBezTo>
                  <a:pt x="2181723" y="-44884"/>
                  <a:pt x="2362176" y="36056"/>
                  <a:pt x="2504948" y="0"/>
                </a:cubicBezTo>
                <a:cubicBezTo>
                  <a:pt x="2647720" y="-36056"/>
                  <a:pt x="2939805" y="58130"/>
                  <a:pt x="3158413" y="0"/>
                </a:cubicBezTo>
                <a:cubicBezTo>
                  <a:pt x="3377022" y="-58130"/>
                  <a:pt x="3380772" y="8328"/>
                  <a:pt x="3594056" y="0"/>
                </a:cubicBezTo>
                <a:cubicBezTo>
                  <a:pt x="3807340" y="-8328"/>
                  <a:pt x="3947145" y="30783"/>
                  <a:pt x="4247520" y="0"/>
                </a:cubicBezTo>
                <a:cubicBezTo>
                  <a:pt x="4547895" y="-30783"/>
                  <a:pt x="4688043" y="30729"/>
                  <a:pt x="4900985" y="0"/>
                </a:cubicBezTo>
                <a:cubicBezTo>
                  <a:pt x="5113928" y="-30729"/>
                  <a:pt x="5298612" y="18161"/>
                  <a:pt x="5445539" y="0"/>
                </a:cubicBezTo>
                <a:cubicBezTo>
                  <a:pt x="5476091" y="219931"/>
                  <a:pt x="5403834" y="331858"/>
                  <a:pt x="5445539" y="480132"/>
                </a:cubicBezTo>
                <a:cubicBezTo>
                  <a:pt x="5487244" y="628406"/>
                  <a:pt x="5412040" y="734450"/>
                  <a:pt x="5445539" y="923331"/>
                </a:cubicBezTo>
                <a:cubicBezTo>
                  <a:pt x="5335559" y="927571"/>
                  <a:pt x="5228818" y="920138"/>
                  <a:pt x="5064351" y="923331"/>
                </a:cubicBezTo>
                <a:cubicBezTo>
                  <a:pt x="4899884" y="926524"/>
                  <a:pt x="4668957" y="866332"/>
                  <a:pt x="4410887" y="923331"/>
                </a:cubicBezTo>
                <a:cubicBezTo>
                  <a:pt x="4152817" y="980330"/>
                  <a:pt x="4124027" y="916397"/>
                  <a:pt x="3975243" y="923331"/>
                </a:cubicBezTo>
                <a:cubicBezTo>
                  <a:pt x="3826459" y="930265"/>
                  <a:pt x="3700732" y="903662"/>
                  <a:pt x="3430690" y="923331"/>
                </a:cubicBezTo>
                <a:cubicBezTo>
                  <a:pt x="3160648" y="943000"/>
                  <a:pt x="2952261" y="921420"/>
                  <a:pt x="2777225" y="923331"/>
                </a:cubicBezTo>
                <a:cubicBezTo>
                  <a:pt x="2602189" y="925242"/>
                  <a:pt x="2425777" y="886056"/>
                  <a:pt x="2232671" y="923331"/>
                </a:cubicBezTo>
                <a:cubicBezTo>
                  <a:pt x="2039565" y="960606"/>
                  <a:pt x="1955277" y="912844"/>
                  <a:pt x="1851483" y="923331"/>
                </a:cubicBezTo>
                <a:cubicBezTo>
                  <a:pt x="1747689" y="933818"/>
                  <a:pt x="1556670" y="917639"/>
                  <a:pt x="1415840" y="923331"/>
                </a:cubicBezTo>
                <a:cubicBezTo>
                  <a:pt x="1275010" y="929023"/>
                  <a:pt x="942843" y="884218"/>
                  <a:pt x="762375" y="923331"/>
                </a:cubicBezTo>
                <a:cubicBezTo>
                  <a:pt x="581908" y="962444"/>
                  <a:pt x="377221" y="863599"/>
                  <a:pt x="0" y="923331"/>
                </a:cubicBezTo>
                <a:cubicBezTo>
                  <a:pt x="-17195" y="828478"/>
                  <a:pt x="13193" y="630804"/>
                  <a:pt x="0" y="480132"/>
                </a:cubicBezTo>
                <a:cubicBezTo>
                  <a:pt x="-13193" y="329460"/>
                  <a:pt x="33197" y="194430"/>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kumimoji="1" lang="en-US" altLang="ko-KR" sz="4000" dirty="0">
                <a:solidFill>
                  <a:schemeClr val="bg1"/>
                </a:solidFill>
                <a:latin typeface="Courier New" panose="02070309020205020404" pitchFamily="49" charset="0"/>
                <a:cs typeface="Courier New" panose="02070309020205020404" pitchFamily="49" charset="0"/>
              </a:rPr>
              <a:t>The Keyboard</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16036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4" descr="실내, 계산기, 뮤지컬, 타자기이(가) 표시된 사진&#10;&#10;AI 생성 콘텐츠는 정확하지 않을 수 있습니다.">
            <a:extLst>
              <a:ext uri="{FF2B5EF4-FFF2-40B4-BE49-F238E27FC236}">
                <a16:creationId xmlns:a16="http://schemas.microsoft.com/office/drawing/2014/main" id="{D5D5F50E-54CD-673B-171C-8801A52BFADB}"/>
              </a:ext>
            </a:extLst>
          </p:cNvPr>
          <p:cNvPicPr>
            <a:picLocks noGrp="1" noChangeAspect="1"/>
          </p:cNvPicPr>
          <p:nvPr>
            <p:ph idx="1"/>
          </p:nvPr>
        </p:nvPicPr>
        <p:blipFill>
          <a:blip r:embed="rId2"/>
          <a:stretch>
            <a:fillRect/>
          </a:stretch>
        </p:blipFill>
        <p:spPr>
          <a:xfrm>
            <a:off x="823619" y="845530"/>
            <a:ext cx="4077565" cy="2772744"/>
          </a:xfrm>
          <a:effectLst>
            <a:glow rad="228600">
              <a:schemeClr val="accent2">
                <a:satMod val="175000"/>
                <a:alpha val="40000"/>
              </a:schemeClr>
            </a:glow>
          </a:effectLst>
        </p:spPr>
      </p:pic>
      <p:pic>
        <p:nvPicPr>
          <p:cNvPr id="4" name="그림 3" descr="텍스트, 스크린샷, 폰트, 라인이(가) 표시된 사진&#10;&#10;AI 생성 콘텐츠는 정확하지 않을 수 있습니다.">
            <a:extLst>
              <a:ext uri="{FF2B5EF4-FFF2-40B4-BE49-F238E27FC236}">
                <a16:creationId xmlns:a16="http://schemas.microsoft.com/office/drawing/2014/main" id="{445B6C09-EDE6-CA70-D0E2-BE7B50374A50}"/>
              </a:ext>
            </a:extLst>
          </p:cNvPr>
          <p:cNvPicPr>
            <a:picLocks noChangeAspect="1"/>
          </p:cNvPicPr>
          <p:nvPr/>
        </p:nvPicPr>
        <p:blipFill>
          <a:blip r:embed="rId3"/>
          <a:stretch>
            <a:fillRect/>
          </a:stretch>
        </p:blipFill>
        <p:spPr>
          <a:xfrm>
            <a:off x="823619" y="3845397"/>
            <a:ext cx="4070635" cy="1970187"/>
          </a:xfrm>
          <a:prstGeom prst="rect">
            <a:avLst/>
          </a:prstGeom>
        </p:spPr>
      </p:pic>
      <p:sp>
        <p:nvSpPr>
          <p:cNvPr id="6" name="TextBox 5">
            <a:extLst>
              <a:ext uri="{FF2B5EF4-FFF2-40B4-BE49-F238E27FC236}">
                <a16:creationId xmlns:a16="http://schemas.microsoft.com/office/drawing/2014/main" id="{3700A3C9-9066-E57B-925B-7CAC6D6B779F}"/>
              </a:ext>
            </a:extLst>
          </p:cNvPr>
          <p:cNvSpPr txBox="1"/>
          <p:nvPr/>
        </p:nvSpPr>
        <p:spPr>
          <a:xfrm>
            <a:off x="5922842" y="2000764"/>
            <a:ext cx="5445539" cy="163121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The plugboard is connected via tunnel and encoder circuits. </a:t>
            </a:r>
          </a:p>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This converts the input characters into 5-bit binary data for further processing. </a:t>
            </a:r>
          </a:p>
        </p:txBody>
      </p:sp>
      <p:sp>
        <p:nvSpPr>
          <p:cNvPr id="9" name="제목 1">
            <a:extLst>
              <a:ext uri="{FF2B5EF4-FFF2-40B4-BE49-F238E27FC236}">
                <a16:creationId xmlns:a16="http://schemas.microsoft.com/office/drawing/2014/main" id="{EC96374C-5454-3721-7BE0-D2051F533FA9}"/>
              </a:ext>
            </a:extLst>
          </p:cNvPr>
          <p:cNvSpPr>
            <a:spLocks noGrp="1"/>
          </p:cNvSpPr>
          <p:nvPr>
            <p:ph type="title"/>
          </p:nvPr>
        </p:nvSpPr>
        <p:spPr>
          <a:xfrm>
            <a:off x="5922842" y="742519"/>
            <a:ext cx="5445539" cy="923331"/>
          </a:xfrm>
          <a:custGeom>
            <a:avLst/>
            <a:gdLst>
              <a:gd name="connsiteX0" fmla="*/ 0 w 5445539"/>
              <a:gd name="connsiteY0" fmla="*/ 0 h 923331"/>
              <a:gd name="connsiteX1" fmla="*/ 381188 w 5445539"/>
              <a:gd name="connsiteY1" fmla="*/ 0 h 923331"/>
              <a:gd name="connsiteX2" fmla="*/ 1034652 w 5445539"/>
              <a:gd name="connsiteY2" fmla="*/ 0 h 923331"/>
              <a:gd name="connsiteX3" fmla="*/ 1633662 w 5445539"/>
              <a:gd name="connsiteY3" fmla="*/ 0 h 923331"/>
              <a:gd name="connsiteX4" fmla="*/ 2014849 w 5445539"/>
              <a:gd name="connsiteY4" fmla="*/ 0 h 923331"/>
              <a:gd name="connsiteX5" fmla="*/ 2504948 w 5445539"/>
              <a:gd name="connsiteY5" fmla="*/ 0 h 923331"/>
              <a:gd name="connsiteX6" fmla="*/ 3158413 w 5445539"/>
              <a:gd name="connsiteY6" fmla="*/ 0 h 923331"/>
              <a:gd name="connsiteX7" fmla="*/ 3702967 w 5445539"/>
              <a:gd name="connsiteY7" fmla="*/ 0 h 923331"/>
              <a:gd name="connsiteX8" fmla="*/ 4301976 w 5445539"/>
              <a:gd name="connsiteY8" fmla="*/ 0 h 923331"/>
              <a:gd name="connsiteX9" fmla="*/ 4792074 w 5445539"/>
              <a:gd name="connsiteY9" fmla="*/ 0 h 923331"/>
              <a:gd name="connsiteX10" fmla="*/ 5445539 w 5445539"/>
              <a:gd name="connsiteY10" fmla="*/ 0 h 923331"/>
              <a:gd name="connsiteX11" fmla="*/ 5445539 w 5445539"/>
              <a:gd name="connsiteY11" fmla="*/ 480132 h 923331"/>
              <a:gd name="connsiteX12" fmla="*/ 5445539 w 5445539"/>
              <a:gd name="connsiteY12" fmla="*/ 923331 h 923331"/>
              <a:gd name="connsiteX13" fmla="*/ 5064351 w 5445539"/>
              <a:gd name="connsiteY13" fmla="*/ 923331 h 923331"/>
              <a:gd name="connsiteX14" fmla="*/ 4683164 w 5445539"/>
              <a:gd name="connsiteY14" fmla="*/ 923331 h 923331"/>
              <a:gd name="connsiteX15" fmla="*/ 4084154 w 5445539"/>
              <a:gd name="connsiteY15" fmla="*/ 923331 h 923331"/>
              <a:gd name="connsiteX16" fmla="*/ 3702967 w 5445539"/>
              <a:gd name="connsiteY16" fmla="*/ 923331 h 923331"/>
              <a:gd name="connsiteX17" fmla="*/ 3158413 w 5445539"/>
              <a:gd name="connsiteY17" fmla="*/ 923331 h 923331"/>
              <a:gd name="connsiteX18" fmla="*/ 2722770 w 5445539"/>
              <a:gd name="connsiteY18" fmla="*/ 923331 h 923331"/>
              <a:gd name="connsiteX19" fmla="*/ 2178216 w 5445539"/>
              <a:gd name="connsiteY19" fmla="*/ 923331 h 923331"/>
              <a:gd name="connsiteX20" fmla="*/ 1633662 w 5445539"/>
              <a:gd name="connsiteY20" fmla="*/ 923331 h 923331"/>
              <a:gd name="connsiteX21" fmla="*/ 1089108 w 5445539"/>
              <a:gd name="connsiteY21" fmla="*/ 923331 h 923331"/>
              <a:gd name="connsiteX22" fmla="*/ 544554 w 5445539"/>
              <a:gd name="connsiteY22" fmla="*/ 923331 h 923331"/>
              <a:gd name="connsiteX23" fmla="*/ 0 w 5445539"/>
              <a:gd name="connsiteY23" fmla="*/ 923331 h 923331"/>
              <a:gd name="connsiteX24" fmla="*/ 0 w 5445539"/>
              <a:gd name="connsiteY24" fmla="*/ 452432 h 923331"/>
              <a:gd name="connsiteX25" fmla="*/ 0 w 5445539"/>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45539" h="923331" fill="none" extrusionOk="0">
                <a:moveTo>
                  <a:pt x="0" y="0"/>
                </a:moveTo>
                <a:cubicBezTo>
                  <a:pt x="157272" y="-20773"/>
                  <a:pt x="276437" y="20277"/>
                  <a:pt x="381188" y="0"/>
                </a:cubicBezTo>
                <a:cubicBezTo>
                  <a:pt x="485939" y="-20277"/>
                  <a:pt x="722354" y="38511"/>
                  <a:pt x="1034652" y="0"/>
                </a:cubicBezTo>
                <a:cubicBezTo>
                  <a:pt x="1346950" y="-38511"/>
                  <a:pt x="1407114" y="34286"/>
                  <a:pt x="1633662" y="0"/>
                </a:cubicBezTo>
                <a:cubicBezTo>
                  <a:pt x="1860210" y="-34286"/>
                  <a:pt x="1934375" y="5936"/>
                  <a:pt x="2014849" y="0"/>
                </a:cubicBezTo>
                <a:cubicBezTo>
                  <a:pt x="2095323" y="-5936"/>
                  <a:pt x="2293497" y="6722"/>
                  <a:pt x="2504948" y="0"/>
                </a:cubicBezTo>
                <a:cubicBezTo>
                  <a:pt x="2716399" y="-6722"/>
                  <a:pt x="2964293" y="18720"/>
                  <a:pt x="3158413" y="0"/>
                </a:cubicBezTo>
                <a:cubicBezTo>
                  <a:pt x="3352534" y="-18720"/>
                  <a:pt x="3580788" y="60547"/>
                  <a:pt x="3702967" y="0"/>
                </a:cubicBezTo>
                <a:cubicBezTo>
                  <a:pt x="3825146" y="-60547"/>
                  <a:pt x="4090060" y="44927"/>
                  <a:pt x="4301976" y="0"/>
                </a:cubicBezTo>
                <a:cubicBezTo>
                  <a:pt x="4513892" y="-44927"/>
                  <a:pt x="4623901" y="37072"/>
                  <a:pt x="4792074" y="0"/>
                </a:cubicBezTo>
                <a:cubicBezTo>
                  <a:pt x="4960247" y="-37072"/>
                  <a:pt x="5148180" y="50349"/>
                  <a:pt x="5445539" y="0"/>
                </a:cubicBezTo>
                <a:cubicBezTo>
                  <a:pt x="5497398" y="166644"/>
                  <a:pt x="5402216" y="295014"/>
                  <a:pt x="5445539" y="480132"/>
                </a:cubicBezTo>
                <a:cubicBezTo>
                  <a:pt x="5488862" y="665250"/>
                  <a:pt x="5427472" y="752512"/>
                  <a:pt x="5445539" y="923331"/>
                </a:cubicBezTo>
                <a:cubicBezTo>
                  <a:pt x="5314146" y="956506"/>
                  <a:pt x="5198524" y="907374"/>
                  <a:pt x="5064351" y="923331"/>
                </a:cubicBezTo>
                <a:cubicBezTo>
                  <a:pt x="4930178" y="939288"/>
                  <a:pt x="4814018" y="892421"/>
                  <a:pt x="4683164" y="923331"/>
                </a:cubicBezTo>
                <a:cubicBezTo>
                  <a:pt x="4552310" y="954241"/>
                  <a:pt x="4267416" y="923243"/>
                  <a:pt x="4084154" y="923331"/>
                </a:cubicBezTo>
                <a:cubicBezTo>
                  <a:pt x="3900892" y="923419"/>
                  <a:pt x="3877482" y="895289"/>
                  <a:pt x="3702967" y="923331"/>
                </a:cubicBezTo>
                <a:cubicBezTo>
                  <a:pt x="3528452" y="951373"/>
                  <a:pt x="3407727" y="868539"/>
                  <a:pt x="3158413" y="923331"/>
                </a:cubicBezTo>
                <a:cubicBezTo>
                  <a:pt x="2909099" y="978123"/>
                  <a:pt x="2898223" y="882954"/>
                  <a:pt x="2722770" y="923331"/>
                </a:cubicBezTo>
                <a:cubicBezTo>
                  <a:pt x="2547317" y="963708"/>
                  <a:pt x="2355202" y="880447"/>
                  <a:pt x="2178216" y="923331"/>
                </a:cubicBezTo>
                <a:cubicBezTo>
                  <a:pt x="2001230" y="966215"/>
                  <a:pt x="1758487" y="889149"/>
                  <a:pt x="1633662" y="923331"/>
                </a:cubicBezTo>
                <a:cubicBezTo>
                  <a:pt x="1508837" y="957513"/>
                  <a:pt x="1263469" y="915593"/>
                  <a:pt x="1089108" y="923331"/>
                </a:cubicBezTo>
                <a:cubicBezTo>
                  <a:pt x="914747" y="931069"/>
                  <a:pt x="697939" y="894937"/>
                  <a:pt x="544554" y="923331"/>
                </a:cubicBezTo>
                <a:cubicBezTo>
                  <a:pt x="391169" y="951725"/>
                  <a:pt x="149222" y="873481"/>
                  <a:pt x="0" y="923331"/>
                </a:cubicBezTo>
                <a:cubicBezTo>
                  <a:pt x="-8444" y="741602"/>
                  <a:pt x="48150" y="624398"/>
                  <a:pt x="0" y="452432"/>
                </a:cubicBezTo>
                <a:cubicBezTo>
                  <a:pt x="-48150" y="280466"/>
                  <a:pt x="44482" y="133400"/>
                  <a:pt x="0" y="0"/>
                </a:cubicBezTo>
                <a:close/>
              </a:path>
              <a:path w="5445539" h="923331" stroke="0" extrusionOk="0">
                <a:moveTo>
                  <a:pt x="0" y="0"/>
                </a:moveTo>
                <a:cubicBezTo>
                  <a:pt x="144145" y="-14347"/>
                  <a:pt x="371177" y="48808"/>
                  <a:pt x="490099" y="0"/>
                </a:cubicBezTo>
                <a:cubicBezTo>
                  <a:pt x="609021" y="-48808"/>
                  <a:pt x="689007" y="2093"/>
                  <a:pt x="871286" y="0"/>
                </a:cubicBezTo>
                <a:cubicBezTo>
                  <a:pt x="1053565" y="-2093"/>
                  <a:pt x="1229195" y="26776"/>
                  <a:pt x="1524751" y="0"/>
                </a:cubicBezTo>
                <a:cubicBezTo>
                  <a:pt x="1820308" y="-26776"/>
                  <a:pt x="1847975" y="44884"/>
                  <a:pt x="2014849" y="0"/>
                </a:cubicBezTo>
                <a:cubicBezTo>
                  <a:pt x="2181723" y="-44884"/>
                  <a:pt x="2362176" y="36056"/>
                  <a:pt x="2504948" y="0"/>
                </a:cubicBezTo>
                <a:cubicBezTo>
                  <a:pt x="2647720" y="-36056"/>
                  <a:pt x="2939805" y="58130"/>
                  <a:pt x="3158413" y="0"/>
                </a:cubicBezTo>
                <a:cubicBezTo>
                  <a:pt x="3377022" y="-58130"/>
                  <a:pt x="3380772" y="8328"/>
                  <a:pt x="3594056" y="0"/>
                </a:cubicBezTo>
                <a:cubicBezTo>
                  <a:pt x="3807340" y="-8328"/>
                  <a:pt x="3947145" y="30783"/>
                  <a:pt x="4247520" y="0"/>
                </a:cubicBezTo>
                <a:cubicBezTo>
                  <a:pt x="4547895" y="-30783"/>
                  <a:pt x="4688043" y="30729"/>
                  <a:pt x="4900985" y="0"/>
                </a:cubicBezTo>
                <a:cubicBezTo>
                  <a:pt x="5113928" y="-30729"/>
                  <a:pt x="5298612" y="18161"/>
                  <a:pt x="5445539" y="0"/>
                </a:cubicBezTo>
                <a:cubicBezTo>
                  <a:pt x="5476091" y="219931"/>
                  <a:pt x="5403834" y="331858"/>
                  <a:pt x="5445539" y="480132"/>
                </a:cubicBezTo>
                <a:cubicBezTo>
                  <a:pt x="5487244" y="628406"/>
                  <a:pt x="5412040" y="734450"/>
                  <a:pt x="5445539" y="923331"/>
                </a:cubicBezTo>
                <a:cubicBezTo>
                  <a:pt x="5335559" y="927571"/>
                  <a:pt x="5228818" y="920138"/>
                  <a:pt x="5064351" y="923331"/>
                </a:cubicBezTo>
                <a:cubicBezTo>
                  <a:pt x="4899884" y="926524"/>
                  <a:pt x="4668957" y="866332"/>
                  <a:pt x="4410887" y="923331"/>
                </a:cubicBezTo>
                <a:cubicBezTo>
                  <a:pt x="4152817" y="980330"/>
                  <a:pt x="4124027" y="916397"/>
                  <a:pt x="3975243" y="923331"/>
                </a:cubicBezTo>
                <a:cubicBezTo>
                  <a:pt x="3826459" y="930265"/>
                  <a:pt x="3700732" y="903662"/>
                  <a:pt x="3430690" y="923331"/>
                </a:cubicBezTo>
                <a:cubicBezTo>
                  <a:pt x="3160648" y="943000"/>
                  <a:pt x="2952261" y="921420"/>
                  <a:pt x="2777225" y="923331"/>
                </a:cubicBezTo>
                <a:cubicBezTo>
                  <a:pt x="2602189" y="925242"/>
                  <a:pt x="2425777" y="886056"/>
                  <a:pt x="2232671" y="923331"/>
                </a:cubicBezTo>
                <a:cubicBezTo>
                  <a:pt x="2039565" y="960606"/>
                  <a:pt x="1955277" y="912844"/>
                  <a:pt x="1851483" y="923331"/>
                </a:cubicBezTo>
                <a:cubicBezTo>
                  <a:pt x="1747689" y="933818"/>
                  <a:pt x="1556670" y="917639"/>
                  <a:pt x="1415840" y="923331"/>
                </a:cubicBezTo>
                <a:cubicBezTo>
                  <a:pt x="1275010" y="929023"/>
                  <a:pt x="942843" y="884218"/>
                  <a:pt x="762375" y="923331"/>
                </a:cubicBezTo>
                <a:cubicBezTo>
                  <a:pt x="581908" y="962444"/>
                  <a:pt x="377221" y="863599"/>
                  <a:pt x="0" y="923331"/>
                </a:cubicBezTo>
                <a:cubicBezTo>
                  <a:pt x="-17195" y="828478"/>
                  <a:pt x="13193" y="630804"/>
                  <a:pt x="0" y="480132"/>
                </a:cubicBezTo>
                <a:cubicBezTo>
                  <a:pt x="-13193" y="329460"/>
                  <a:pt x="33197" y="194430"/>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sk:type>
                    <ask:lineSketchScribble/>
                  </ask:type>
                </ask:lineSketchStyleProps>
              </a:ext>
            </a:extLst>
          </a:ln>
        </p:spPr>
        <p:txBody>
          <a:bodyPr>
            <a:normAutofit/>
          </a:bodyPr>
          <a:lstStyle/>
          <a:p>
            <a:r>
              <a:rPr kumimoji="1" lang="en-US" altLang="ko-KR" sz="4000" dirty="0">
                <a:solidFill>
                  <a:schemeClr val="bg1"/>
                </a:solidFill>
                <a:latin typeface="Courier New" panose="02070309020205020404" pitchFamily="49" charset="0"/>
                <a:cs typeface="Courier New" panose="02070309020205020404" pitchFamily="49" charset="0"/>
              </a:rPr>
              <a:t>The Plugboard</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45351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4" descr="금속, 기계, 스틸, 공학이(가) 표시된 사진&#10;&#10;AI 생성 콘텐츠는 정확하지 않을 수 있습니다.">
            <a:extLst>
              <a:ext uri="{FF2B5EF4-FFF2-40B4-BE49-F238E27FC236}">
                <a16:creationId xmlns:a16="http://schemas.microsoft.com/office/drawing/2014/main" id="{178C94C3-B1C7-E708-78AA-4CCE9FF55880}"/>
              </a:ext>
            </a:extLst>
          </p:cNvPr>
          <p:cNvPicPr>
            <a:picLocks noGrp="1" noChangeAspect="1"/>
          </p:cNvPicPr>
          <p:nvPr>
            <p:ph idx="1"/>
          </p:nvPr>
        </p:nvPicPr>
        <p:blipFill>
          <a:blip r:embed="rId2"/>
          <a:stretch>
            <a:fillRect/>
          </a:stretch>
        </p:blipFill>
        <p:spPr>
          <a:xfrm>
            <a:off x="7204880" y="687097"/>
            <a:ext cx="4323974" cy="3502419"/>
          </a:xfrm>
          <a:effectLst>
            <a:glow rad="228600">
              <a:schemeClr val="accent2">
                <a:satMod val="175000"/>
                <a:alpha val="40000"/>
              </a:schemeClr>
            </a:glow>
          </a:effectLst>
        </p:spPr>
      </p:pic>
      <p:pic>
        <p:nvPicPr>
          <p:cNvPr id="4" name="그림 3" descr="도표, 평면도, 기술 도면, 개략도이(가) 표시된 사진&#10;&#10;AI 생성 콘텐츠는 정확하지 않을 수 있습니다.">
            <a:extLst>
              <a:ext uri="{FF2B5EF4-FFF2-40B4-BE49-F238E27FC236}">
                <a16:creationId xmlns:a16="http://schemas.microsoft.com/office/drawing/2014/main" id="{C9C9DF6F-725B-7C4F-7908-E7185721CA49}"/>
              </a:ext>
            </a:extLst>
          </p:cNvPr>
          <p:cNvPicPr>
            <a:picLocks noChangeAspect="1"/>
          </p:cNvPicPr>
          <p:nvPr/>
        </p:nvPicPr>
        <p:blipFill>
          <a:blip r:embed="rId3"/>
          <a:stretch>
            <a:fillRect/>
          </a:stretch>
        </p:blipFill>
        <p:spPr>
          <a:xfrm>
            <a:off x="7204880" y="4373292"/>
            <a:ext cx="4323975" cy="1791495"/>
          </a:xfrm>
          <a:prstGeom prst="rect">
            <a:avLst/>
          </a:prstGeom>
        </p:spPr>
      </p:pic>
      <p:sp>
        <p:nvSpPr>
          <p:cNvPr id="8" name="TextBox 7">
            <a:extLst>
              <a:ext uri="{FF2B5EF4-FFF2-40B4-BE49-F238E27FC236}">
                <a16:creationId xmlns:a16="http://schemas.microsoft.com/office/drawing/2014/main" id="{9DF2ECB6-5804-E784-CA67-F928233422ED}"/>
              </a:ext>
            </a:extLst>
          </p:cNvPr>
          <p:cNvSpPr txBox="1"/>
          <p:nvPr/>
        </p:nvSpPr>
        <p:spPr>
          <a:xfrm>
            <a:off x="663146" y="1887569"/>
            <a:ext cx="5712940" cy="464742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The rotor consists of a counter, bit extender, adder, subtractor, comparator, multiplexer, and a programmable logic array. </a:t>
            </a:r>
          </a:p>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The first rotor processes the input received from the plugboard by adding it to its current counter value, which increments with each keystroke. The counter operates on a modulo-26 basis, resetting after completing a full cycle of 26 steps, which is correspondent to the number of letters in the alphabet. The resulting value is then passed through the programmable logic array, producing the final output of the first rotor. </a:t>
            </a:r>
          </a:p>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The second and third rotors function in essentially the same manner, with two key differences. First, the input to each rotor is the output from the previous rotor. Second, the counter of each subsequent rotor is incremented once after the previous rotor completes a full 26-step cycle.  </a:t>
            </a:r>
            <a:endParaRPr kumimoji="1" lang="ko-KR" altLang="en-US" sz="1400" dirty="0">
              <a:latin typeface="Courier New" panose="02070309020205020404" pitchFamily="49" charset="0"/>
              <a:cs typeface="Courier New" panose="02070309020205020404" pitchFamily="49" charset="0"/>
            </a:endParaRPr>
          </a:p>
        </p:txBody>
      </p:sp>
      <p:sp>
        <p:nvSpPr>
          <p:cNvPr id="11" name="제목 1">
            <a:extLst>
              <a:ext uri="{FF2B5EF4-FFF2-40B4-BE49-F238E27FC236}">
                <a16:creationId xmlns:a16="http://schemas.microsoft.com/office/drawing/2014/main" id="{107E05B2-33F8-2EDB-F306-795F9032CB97}"/>
              </a:ext>
            </a:extLst>
          </p:cNvPr>
          <p:cNvSpPr>
            <a:spLocks noGrp="1"/>
          </p:cNvSpPr>
          <p:nvPr>
            <p:ph type="title"/>
          </p:nvPr>
        </p:nvSpPr>
        <p:spPr>
          <a:xfrm>
            <a:off x="663146" y="687097"/>
            <a:ext cx="5712940" cy="923331"/>
          </a:xfrm>
          <a:custGeom>
            <a:avLst/>
            <a:gdLst>
              <a:gd name="connsiteX0" fmla="*/ 0 w 5712940"/>
              <a:gd name="connsiteY0" fmla="*/ 0 h 923331"/>
              <a:gd name="connsiteX1" fmla="*/ 399906 w 5712940"/>
              <a:gd name="connsiteY1" fmla="*/ 0 h 923331"/>
              <a:gd name="connsiteX2" fmla="*/ 1085459 w 5712940"/>
              <a:gd name="connsiteY2" fmla="*/ 0 h 923331"/>
              <a:gd name="connsiteX3" fmla="*/ 1713882 w 5712940"/>
              <a:gd name="connsiteY3" fmla="*/ 0 h 923331"/>
              <a:gd name="connsiteX4" fmla="*/ 2113788 w 5712940"/>
              <a:gd name="connsiteY4" fmla="*/ 0 h 923331"/>
              <a:gd name="connsiteX5" fmla="*/ 2627952 w 5712940"/>
              <a:gd name="connsiteY5" fmla="*/ 0 h 923331"/>
              <a:gd name="connsiteX6" fmla="*/ 3313505 w 5712940"/>
              <a:gd name="connsiteY6" fmla="*/ 0 h 923331"/>
              <a:gd name="connsiteX7" fmla="*/ 3884799 w 5712940"/>
              <a:gd name="connsiteY7" fmla="*/ 0 h 923331"/>
              <a:gd name="connsiteX8" fmla="*/ 4513223 w 5712940"/>
              <a:gd name="connsiteY8" fmla="*/ 0 h 923331"/>
              <a:gd name="connsiteX9" fmla="*/ 5027387 w 5712940"/>
              <a:gd name="connsiteY9" fmla="*/ 0 h 923331"/>
              <a:gd name="connsiteX10" fmla="*/ 5712940 w 5712940"/>
              <a:gd name="connsiteY10" fmla="*/ 0 h 923331"/>
              <a:gd name="connsiteX11" fmla="*/ 5712940 w 5712940"/>
              <a:gd name="connsiteY11" fmla="*/ 480132 h 923331"/>
              <a:gd name="connsiteX12" fmla="*/ 5712940 w 5712940"/>
              <a:gd name="connsiteY12" fmla="*/ 923331 h 923331"/>
              <a:gd name="connsiteX13" fmla="*/ 5313034 w 5712940"/>
              <a:gd name="connsiteY13" fmla="*/ 923331 h 923331"/>
              <a:gd name="connsiteX14" fmla="*/ 4913128 w 5712940"/>
              <a:gd name="connsiteY14" fmla="*/ 923331 h 923331"/>
              <a:gd name="connsiteX15" fmla="*/ 4284705 w 5712940"/>
              <a:gd name="connsiteY15" fmla="*/ 923331 h 923331"/>
              <a:gd name="connsiteX16" fmla="*/ 3884799 w 5712940"/>
              <a:gd name="connsiteY16" fmla="*/ 923331 h 923331"/>
              <a:gd name="connsiteX17" fmla="*/ 3313505 w 5712940"/>
              <a:gd name="connsiteY17" fmla="*/ 923331 h 923331"/>
              <a:gd name="connsiteX18" fmla="*/ 2856470 w 5712940"/>
              <a:gd name="connsiteY18" fmla="*/ 923331 h 923331"/>
              <a:gd name="connsiteX19" fmla="*/ 2285176 w 5712940"/>
              <a:gd name="connsiteY19" fmla="*/ 923331 h 923331"/>
              <a:gd name="connsiteX20" fmla="*/ 1713882 w 5712940"/>
              <a:gd name="connsiteY20" fmla="*/ 923331 h 923331"/>
              <a:gd name="connsiteX21" fmla="*/ 1142588 w 5712940"/>
              <a:gd name="connsiteY21" fmla="*/ 923331 h 923331"/>
              <a:gd name="connsiteX22" fmla="*/ 571294 w 5712940"/>
              <a:gd name="connsiteY22" fmla="*/ 923331 h 923331"/>
              <a:gd name="connsiteX23" fmla="*/ 0 w 5712940"/>
              <a:gd name="connsiteY23" fmla="*/ 923331 h 923331"/>
              <a:gd name="connsiteX24" fmla="*/ 0 w 5712940"/>
              <a:gd name="connsiteY24" fmla="*/ 452432 h 923331"/>
              <a:gd name="connsiteX25" fmla="*/ 0 w 5712940"/>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12940" h="923331" fill="none" extrusionOk="0">
                <a:moveTo>
                  <a:pt x="0" y="0"/>
                </a:moveTo>
                <a:cubicBezTo>
                  <a:pt x="169240" y="-22231"/>
                  <a:pt x="276809" y="24650"/>
                  <a:pt x="399906" y="0"/>
                </a:cubicBezTo>
                <a:cubicBezTo>
                  <a:pt x="523003" y="-24650"/>
                  <a:pt x="887981" y="71617"/>
                  <a:pt x="1085459" y="0"/>
                </a:cubicBezTo>
                <a:cubicBezTo>
                  <a:pt x="1282937" y="-71617"/>
                  <a:pt x="1540379" y="21678"/>
                  <a:pt x="1713882" y="0"/>
                </a:cubicBezTo>
                <a:cubicBezTo>
                  <a:pt x="1887385" y="-21678"/>
                  <a:pt x="2008921" y="39268"/>
                  <a:pt x="2113788" y="0"/>
                </a:cubicBezTo>
                <a:cubicBezTo>
                  <a:pt x="2218655" y="-39268"/>
                  <a:pt x="2401885" y="42147"/>
                  <a:pt x="2627952" y="0"/>
                </a:cubicBezTo>
                <a:cubicBezTo>
                  <a:pt x="2854019" y="-42147"/>
                  <a:pt x="2985188" y="27672"/>
                  <a:pt x="3313505" y="0"/>
                </a:cubicBezTo>
                <a:cubicBezTo>
                  <a:pt x="3641822" y="-27672"/>
                  <a:pt x="3708088" y="19368"/>
                  <a:pt x="3884799" y="0"/>
                </a:cubicBezTo>
                <a:cubicBezTo>
                  <a:pt x="4061510" y="-19368"/>
                  <a:pt x="4344447" y="49114"/>
                  <a:pt x="4513223" y="0"/>
                </a:cubicBezTo>
                <a:cubicBezTo>
                  <a:pt x="4681999" y="-49114"/>
                  <a:pt x="4839366" y="34597"/>
                  <a:pt x="5027387" y="0"/>
                </a:cubicBezTo>
                <a:cubicBezTo>
                  <a:pt x="5215408" y="-34597"/>
                  <a:pt x="5412571" y="20263"/>
                  <a:pt x="5712940" y="0"/>
                </a:cubicBezTo>
                <a:cubicBezTo>
                  <a:pt x="5764799" y="166644"/>
                  <a:pt x="5669617" y="295014"/>
                  <a:pt x="5712940" y="480132"/>
                </a:cubicBezTo>
                <a:cubicBezTo>
                  <a:pt x="5756263" y="665250"/>
                  <a:pt x="5694873" y="752512"/>
                  <a:pt x="5712940" y="923331"/>
                </a:cubicBezTo>
                <a:cubicBezTo>
                  <a:pt x="5514690" y="954532"/>
                  <a:pt x="5413120" y="891528"/>
                  <a:pt x="5313034" y="923331"/>
                </a:cubicBezTo>
                <a:cubicBezTo>
                  <a:pt x="5212948" y="955134"/>
                  <a:pt x="5001247" y="902197"/>
                  <a:pt x="4913128" y="923331"/>
                </a:cubicBezTo>
                <a:cubicBezTo>
                  <a:pt x="4825009" y="944465"/>
                  <a:pt x="4445082" y="915198"/>
                  <a:pt x="4284705" y="923331"/>
                </a:cubicBezTo>
                <a:cubicBezTo>
                  <a:pt x="4124328" y="931464"/>
                  <a:pt x="4025931" y="920175"/>
                  <a:pt x="3884799" y="923331"/>
                </a:cubicBezTo>
                <a:cubicBezTo>
                  <a:pt x="3743667" y="926487"/>
                  <a:pt x="3474159" y="879716"/>
                  <a:pt x="3313505" y="923331"/>
                </a:cubicBezTo>
                <a:cubicBezTo>
                  <a:pt x="3152851" y="966946"/>
                  <a:pt x="3040168" y="884593"/>
                  <a:pt x="2856470" y="923331"/>
                </a:cubicBezTo>
                <a:cubicBezTo>
                  <a:pt x="2672772" y="962069"/>
                  <a:pt x="2521199" y="880940"/>
                  <a:pt x="2285176" y="923331"/>
                </a:cubicBezTo>
                <a:cubicBezTo>
                  <a:pt x="2049153" y="965722"/>
                  <a:pt x="1975053" y="918507"/>
                  <a:pt x="1713882" y="923331"/>
                </a:cubicBezTo>
                <a:cubicBezTo>
                  <a:pt x="1452711" y="928155"/>
                  <a:pt x="1406274" y="874501"/>
                  <a:pt x="1142588" y="923331"/>
                </a:cubicBezTo>
                <a:cubicBezTo>
                  <a:pt x="878902" y="972161"/>
                  <a:pt x="749791" y="871476"/>
                  <a:pt x="571294" y="923331"/>
                </a:cubicBezTo>
                <a:cubicBezTo>
                  <a:pt x="392797" y="975186"/>
                  <a:pt x="260094" y="863417"/>
                  <a:pt x="0" y="923331"/>
                </a:cubicBezTo>
                <a:cubicBezTo>
                  <a:pt x="-8444" y="741602"/>
                  <a:pt x="48150" y="624398"/>
                  <a:pt x="0" y="452432"/>
                </a:cubicBezTo>
                <a:cubicBezTo>
                  <a:pt x="-48150" y="280466"/>
                  <a:pt x="44482" y="133400"/>
                  <a:pt x="0" y="0"/>
                </a:cubicBezTo>
                <a:close/>
              </a:path>
              <a:path w="5712940" h="923331" stroke="0" extrusionOk="0">
                <a:moveTo>
                  <a:pt x="0" y="0"/>
                </a:moveTo>
                <a:cubicBezTo>
                  <a:pt x="119184" y="-13319"/>
                  <a:pt x="361099" y="23052"/>
                  <a:pt x="514165" y="0"/>
                </a:cubicBezTo>
                <a:cubicBezTo>
                  <a:pt x="667231" y="-23052"/>
                  <a:pt x="831333" y="19399"/>
                  <a:pt x="914070" y="0"/>
                </a:cubicBezTo>
                <a:cubicBezTo>
                  <a:pt x="996807" y="-19399"/>
                  <a:pt x="1399177" y="74543"/>
                  <a:pt x="1599623" y="0"/>
                </a:cubicBezTo>
                <a:cubicBezTo>
                  <a:pt x="1800069" y="-74543"/>
                  <a:pt x="1930303" y="15748"/>
                  <a:pt x="2113788" y="0"/>
                </a:cubicBezTo>
                <a:cubicBezTo>
                  <a:pt x="2297273" y="-15748"/>
                  <a:pt x="2457816" y="30638"/>
                  <a:pt x="2627952" y="0"/>
                </a:cubicBezTo>
                <a:cubicBezTo>
                  <a:pt x="2798088" y="-30638"/>
                  <a:pt x="2985060" y="24504"/>
                  <a:pt x="3313505" y="0"/>
                </a:cubicBezTo>
                <a:cubicBezTo>
                  <a:pt x="3641950" y="-24504"/>
                  <a:pt x="3662099" y="6973"/>
                  <a:pt x="3770540" y="0"/>
                </a:cubicBezTo>
                <a:cubicBezTo>
                  <a:pt x="3878982" y="-6973"/>
                  <a:pt x="4193337" y="11570"/>
                  <a:pt x="4456093" y="0"/>
                </a:cubicBezTo>
                <a:cubicBezTo>
                  <a:pt x="4718849" y="-11570"/>
                  <a:pt x="4898922" y="78748"/>
                  <a:pt x="5141646" y="0"/>
                </a:cubicBezTo>
                <a:cubicBezTo>
                  <a:pt x="5384370" y="-78748"/>
                  <a:pt x="5528543" y="64657"/>
                  <a:pt x="5712940" y="0"/>
                </a:cubicBezTo>
                <a:cubicBezTo>
                  <a:pt x="5743492" y="219931"/>
                  <a:pt x="5671235" y="331858"/>
                  <a:pt x="5712940" y="480132"/>
                </a:cubicBezTo>
                <a:cubicBezTo>
                  <a:pt x="5754645" y="628406"/>
                  <a:pt x="5679441" y="734450"/>
                  <a:pt x="5712940" y="923331"/>
                </a:cubicBezTo>
                <a:cubicBezTo>
                  <a:pt x="5625630" y="943001"/>
                  <a:pt x="5437644" y="909168"/>
                  <a:pt x="5313034" y="923331"/>
                </a:cubicBezTo>
                <a:cubicBezTo>
                  <a:pt x="5188424" y="937494"/>
                  <a:pt x="4897915" y="870249"/>
                  <a:pt x="4627481" y="923331"/>
                </a:cubicBezTo>
                <a:cubicBezTo>
                  <a:pt x="4357047" y="976413"/>
                  <a:pt x="4347656" y="913978"/>
                  <a:pt x="4170446" y="923331"/>
                </a:cubicBezTo>
                <a:cubicBezTo>
                  <a:pt x="3993236" y="932684"/>
                  <a:pt x="3804975" y="905316"/>
                  <a:pt x="3599152" y="923331"/>
                </a:cubicBezTo>
                <a:cubicBezTo>
                  <a:pt x="3393329" y="941346"/>
                  <a:pt x="3138065" y="847127"/>
                  <a:pt x="2913599" y="923331"/>
                </a:cubicBezTo>
                <a:cubicBezTo>
                  <a:pt x="2689133" y="999535"/>
                  <a:pt x="2587832" y="882040"/>
                  <a:pt x="2342305" y="923331"/>
                </a:cubicBezTo>
                <a:cubicBezTo>
                  <a:pt x="2096778" y="964622"/>
                  <a:pt x="2025732" y="911881"/>
                  <a:pt x="1942400" y="923331"/>
                </a:cubicBezTo>
                <a:cubicBezTo>
                  <a:pt x="1859069" y="934781"/>
                  <a:pt x="1694589" y="894250"/>
                  <a:pt x="1485364" y="923331"/>
                </a:cubicBezTo>
                <a:cubicBezTo>
                  <a:pt x="1276139" y="952412"/>
                  <a:pt x="976544" y="885544"/>
                  <a:pt x="799812" y="923331"/>
                </a:cubicBezTo>
                <a:cubicBezTo>
                  <a:pt x="623080" y="961118"/>
                  <a:pt x="206687" y="871627"/>
                  <a:pt x="0" y="923331"/>
                </a:cubicBezTo>
                <a:cubicBezTo>
                  <a:pt x="-17195" y="828478"/>
                  <a:pt x="13193" y="630804"/>
                  <a:pt x="0" y="480132"/>
                </a:cubicBezTo>
                <a:cubicBezTo>
                  <a:pt x="-13193" y="329460"/>
                  <a:pt x="33197" y="194430"/>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sk:type>
                    <ask:lineSketchScribble/>
                  </ask:type>
                </ask:lineSketchStyleProps>
              </a:ext>
            </a:extLst>
          </a:ln>
        </p:spPr>
        <p:txBody>
          <a:bodyPr>
            <a:normAutofit/>
          </a:bodyPr>
          <a:lstStyle/>
          <a:p>
            <a:r>
              <a:rPr kumimoji="1" lang="en-US" altLang="ko-KR" sz="4000" dirty="0">
                <a:solidFill>
                  <a:schemeClr val="bg1"/>
                </a:solidFill>
                <a:latin typeface="Courier New" panose="02070309020205020404" pitchFamily="49" charset="0"/>
                <a:cs typeface="Courier New" panose="02070309020205020404" pitchFamily="49" charset="0"/>
              </a:rPr>
              <a:t>The Rotor</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22213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4" descr="기계, 금속, 실내, 스틸이(가) 표시된 사진&#10;&#10;AI 생성 콘텐츠는 정확하지 않을 수 있습니다.">
            <a:extLst>
              <a:ext uri="{FF2B5EF4-FFF2-40B4-BE49-F238E27FC236}">
                <a16:creationId xmlns:a16="http://schemas.microsoft.com/office/drawing/2014/main" id="{A003FD23-5C40-4F91-F3B5-3B2B941E8180}"/>
              </a:ext>
            </a:extLst>
          </p:cNvPr>
          <p:cNvPicPr>
            <a:picLocks noGrp="1" noChangeAspect="1"/>
          </p:cNvPicPr>
          <p:nvPr>
            <p:ph idx="1"/>
          </p:nvPr>
        </p:nvPicPr>
        <p:blipFill>
          <a:blip r:embed="rId2"/>
          <a:stretch>
            <a:fillRect/>
          </a:stretch>
        </p:blipFill>
        <p:spPr>
          <a:xfrm>
            <a:off x="670220" y="814215"/>
            <a:ext cx="4182195" cy="2793451"/>
          </a:xfrm>
          <a:effectLst>
            <a:glow rad="228600">
              <a:schemeClr val="accent2">
                <a:satMod val="175000"/>
                <a:alpha val="40000"/>
              </a:schemeClr>
            </a:glow>
          </a:effectLst>
        </p:spPr>
      </p:pic>
      <p:sp>
        <p:nvSpPr>
          <p:cNvPr id="6" name="TextBox 5">
            <a:extLst>
              <a:ext uri="{FF2B5EF4-FFF2-40B4-BE49-F238E27FC236}">
                <a16:creationId xmlns:a16="http://schemas.microsoft.com/office/drawing/2014/main" id="{A89464B5-35F5-ACC0-2007-D9CEA37F4307}"/>
              </a:ext>
            </a:extLst>
          </p:cNvPr>
          <p:cNvSpPr txBox="1"/>
          <p:nvPr/>
        </p:nvSpPr>
        <p:spPr>
          <a:xfrm>
            <a:off x="5706761" y="1988403"/>
            <a:ext cx="5577017" cy="4031873"/>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The reflector is implemented using a programmable logic array. </a:t>
            </a:r>
          </a:p>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It maps each input character to a different output character in a fixed, symmetrical manner. </a:t>
            </a:r>
          </a:p>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For example, if the letter A is mapped to letter B, then letter B is also mapped to letter A. </a:t>
            </a:r>
          </a:p>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This ensures that encryption is a reversible process without the need for a separate decryption mechanism.</a:t>
            </a:r>
          </a:p>
          <a:p>
            <a:pPr marL="285750" indent="-285750">
              <a:spcAft>
                <a:spcPts val="1200"/>
              </a:spcAft>
              <a:buFont typeface="Arial" panose="020B0604020202020204" pitchFamily="34" charset="0"/>
              <a:buChar char="•"/>
            </a:pPr>
            <a:endParaRPr kumimoji="1" lang="ko-KR" altLang="en-US" dirty="0">
              <a:latin typeface="Courier New" panose="02070309020205020404" pitchFamily="49" charset="0"/>
              <a:cs typeface="Courier New" panose="02070309020205020404" pitchFamily="49" charset="0"/>
            </a:endParaRPr>
          </a:p>
        </p:txBody>
      </p:sp>
      <p:pic>
        <p:nvPicPr>
          <p:cNvPr id="8" name="그림 7" descr="스크린샷, 라인, 도표, 직사각형이(가) 표시된 사진&#10;&#10;AI 생성 콘텐츠는 정확하지 않을 수 있습니다.">
            <a:extLst>
              <a:ext uri="{FF2B5EF4-FFF2-40B4-BE49-F238E27FC236}">
                <a16:creationId xmlns:a16="http://schemas.microsoft.com/office/drawing/2014/main" id="{F15C848C-41D6-BCFB-0034-764182241191}"/>
              </a:ext>
            </a:extLst>
          </p:cNvPr>
          <p:cNvPicPr>
            <a:picLocks noChangeAspect="1"/>
          </p:cNvPicPr>
          <p:nvPr/>
        </p:nvPicPr>
        <p:blipFill>
          <a:blip r:embed="rId3"/>
          <a:stretch>
            <a:fillRect/>
          </a:stretch>
        </p:blipFill>
        <p:spPr>
          <a:xfrm>
            <a:off x="670220" y="3904735"/>
            <a:ext cx="4182194" cy="1898191"/>
          </a:xfrm>
          <a:prstGeom prst="rect">
            <a:avLst/>
          </a:prstGeom>
        </p:spPr>
      </p:pic>
      <p:sp>
        <p:nvSpPr>
          <p:cNvPr id="9" name="제목 1">
            <a:extLst>
              <a:ext uri="{FF2B5EF4-FFF2-40B4-BE49-F238E27FC236}">
                <a16:creationId xmlns:a16="http://schemas.microsoft.com/office/drawing/2014/main" id="{D36ED21D-88BD-3E1C-803E-1F9CDE8BC3F6}"/>
              </a:ext>
            </a:extLst>
          </p:cNvPr>
          <p:cNvSpPr txBox="1">
            <a:spLocks/>
          </p:cNvSpPr>
          <p:nvPr/>
        </p:nvSpPr>
        <p:spPr>
          <a:xfrm>
            <a:off x="5679987" y="814215"/>
            <a:ext cx="5577018" cy="923331"/>
          </a:xfrm>
          <a:custGeom>
            <a:avLst/>
            <a:gdLst>
              <a:gd name="connsiteX0" fmla="*/ 0 w 5577018"/>
              <a:gd name="connsiteY0" fmla="*/ 0 h 923331"/>
              <a:gd name="connsiteX1" fmla="*/ 390391 w 5577018"/>
              <a:gd name="connsiteY1" fmla="*/ 0 h 923331"/>
              <a:gd name="connsiteX2" fmla="*/ 1059633 w 5577018"/>
              <a:gd name="connsiteY2" fmla="*/ 0 h 923331"/>
              <a:gd name="connsiteX3" fmla="*/ 1673105 w 5577018"/>
              <a:gd name="connsiteY3" fmla="*/ 0 h 923331"/>
              <a:gd name="connsiteX4" fmla="*/ 2063497 w 5577018"/>
              <a:gd name="connsiteY4" fmla="*/ 0 h 923331"/>
              <a:gd name="connsiteX5" fmla="*/ 2565428 w 5577018"/>
              <a:gd name="connsiteY5" fmla="*/ 0 h 923331"/>
              <a:gd name="connsiteX6" fmla="*/ 3234670 w 5577018"/>
              <a:gd name="connsiteY6" fmla="*/ 0 h 923331"/>
              <a:gd name="connsiteX7" fmla="*/ 3792372 w 5577018"/>
              <a:gd name="connsiteY7" fmla="*/ 0 h 923331"/>
              <a:gd name="connsiteX8" fmla="*/ 4405844 w 5577018"/>
              <a:gd name="connsiteY8" fmla="*/ 0 h 923331"/>
              <a:gd name="connsiteX9" fmla="*/ 4907776 w 5577018"/>
              <a:gd name="connsiteY9" fmla="*/ 0 h 923331"/>
              <a:gd name="connsiteX10" fmla="*/ 5577018 w 5577018"/>
              <a:gd name="connsiteY10" fmla="*/ 0 h 923331"/>
              <a:gd name="connsiteX11" fmla="*/ 5577018 w 5577018"/>
              <a:gd name="connsiteY11" fmla="*/ 480132 h 923331"/>
              <a:gd name="connsiteX12" fmla="*/ 5577018 w 5577018"/>
              <a:gd name="connsiteY12" fmla="*/ 923331 h 923331"/>
              <a:gd name="connsiteX13" fmla="*/ 5186627 w 5577018"/>
              <a:gd name="connsiteY13" fmla="*/ 923331 h 923331"/>
              <a:gd name="connsiteX14" fmla="*/ 4796235 w 5577018"/>
              <a:gd name="connsiteY14" fmla="*/ 923331 h 923331"/>
              <a:gd name="connsiteX15" fmla="*/ 4182764 w 5577018"/>
              <a:gd name="connsiteY15" fmla="*/ 923331 h 923331"/>
              <a:gd name="connsiteX16" fmla="*/ 3792372 w 5577018"/>
              <a:gd name="connsiteY16" fmla="*/ 923331 h 923331"/>
              <a:gd name="connsiteX17" fmla="*/ 3234670 w 5577018"/>
              <a:gd name="connsiteY17" fmla="*/ 923331 h 923331"/>
              <a:gd name="connsiteX18" fmla="*/ 2788509 w 5577018"/>
              <a:gd name="connsiteY18" fmla="*/ 923331 h 923331"/>
              <a:gd name="connsiteX19" fmla="*/ 2230807 w 5577018"/>
              <a:gd name="connsiteY19" fmla="*/ 923331 h 923331"/>
              <a:gd name="connsiteX20" fmla="*/ 1673105 w 5577018"/>
              <a:gd name="connsiteY20" fmla="*/ 923331 h 923331"/>
              <a:gd name="connsiteX21" fmla="*/ 1115404 w 5577018"/>
              <a:gd name="connsiteY21" fmla="*/ 923331 h 923331"/>
              <a:gd name="connsiteX22" fmla="*/ 557702 w 5577018"/>
              <a:gd name="connsiteY22" fmla="*/ 923331 h 923331"/>
              <a:gd name="connsiteX23" fmla="*/ 0 w 5577018"/>
              <a:gd name="connsiteY23" fmla="*/ 923331 h 923331"/>
              <a:gd name="connsiteX24" fmla="*/ 0 w 5577018"/>
              <a:gd name="connsiteY24" fmla="*/ 452432 h 923331"/>
              <a:gd name="connsiteX25" fmla="*/ 0 w 5577018"/>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77018" h="923331" fill="none" extrusionOk="0">
                <a:moveTo>
                  <a:pt x="0" y="0"/>
                </a:moveTo>
                <a:cubicBezTo>
                  <a:pt x="129878" y="-26919"/>
                  <a:pt x="293762" y="15670"/>
                  <a:pt x="390391" y="0"/>
                </a:cubicBezTo>
                <a:cubicBezTo>
                  <a:pt x="487020" y="-15670"/>
                  <a:pt x="811735" y="76896"/>
                  <a:pt x="1059633" y="0"/>
                </a:cubicBezTo>
                <a:cubicBezTo>
                  <a:pt x="1307531" y="-76896"/>
                  <a:pt x="1395633" y="43255"/>
                  <a:pt x="1673105" y="0"/>
                </a:cubicBezTo>
                <a:cubicBezTo>
                  <a:pt x="1950577" y="-43255"/>
                  <a:pt x="1885530" y="34750"/>
                  <a:pt x="2063497" y="0"/>
                </a:cubicBezTo>
                <a:cubicBezTo>
                  <a:pt x="2241464" y="-34750"/>
                  <a:pt x="2427935" y="35866"/>
                  <a:pt x="2565428" y="0"/>
                </a:cubicBezTo>
                <a:cubicBezTo>
                  <a:pt x="2702921" y="-35866"/>
                  <a:pt x="3047809" y="59942"/>
                  <a:pt x="3234670" y="0"/>
                </a:cubicBezTo>
                <a:cubicBezTo>
                  <a:pt x="3421531" y="-59942"/>
                  <a:pt x="3542966" y="45343"/>
                  <a:pt x="3792372" y="0"/>
                </a:cubicBezTo>
                <a:cubicBezTo>
                  <a:pt x="4041778" y="-45343"/>
                  <a:pt x="4118317" y="50"/>
                  <a:pt x="4405844" y="0"/>
                </a:cubicBezTo>
                <a:cubicBezTo>
                  <a:pt x="4693371" y="-50"/>
                  <a:pt x="4786957" y="46904"/>
                  <a:pt x="4907776" y="0"/>
                </a:cubicBezTo>
                <a:cubicBezTo>
                  <a:pt x="5028595" y="-46904"/>
                  <a:pt x="5288948" y="61200"/>
                  <a:pt x="5577018" y="0"/>
                </a:cubicBezTo>
                <a:cubicBezTo>
                  <a:pt x="5628877" y="166644"/>
                  <a:pt x="5533695" y="295014"/>
                  <a:pt x="5577018" y="480132"/>
                </a:cubicBezTo>
                <a:cubicBezTo>
                  <a:pt x="5620341" y="665250"/>
                  <a:pt x="5558951" y="752512"/>
                  <a:pt x="5577018" y="923331"/>
                </a:cubicBezTo>
                <a:cubicBezTo>
                  <a:pt x="5402459" y="931220"/>
                  <a:pt x="5336521" y="916248"/>
                  <a:pt x="5186627" y="923331"/>
                </a:cubicBezTo>
                <a:cubicBezTo>
                  <a:pt x="5036733" y="930414"/>
                  <a:pt x="4939599" y="910235"/>
                  <a:pt x="4796235" y="923331"/>
                </a:cubicBezTo>
                <a:cubicBezTo>
                  <a:pt x="4652871" y="936427"/>
                  <a:pt x="4383545" y="872976"/>
                  <a:pt x="4182764" y="923331"/>
                </a:cubicBezTo>
                <a:cubicBezTo>
                  <a:pt x="3981983" y="973686"/>
                  <a:pt x="3956423" y="911783"/>
                  <a:pt x="3792372" y="923331"/>
                </a:cubicBezTo>
                <a:cubicBezTo>
                  <a:pt x="3628321" y="934879"/>
                  <a:pt x="3428200" y="914606"/>
                  <a:pt x="3234670" y="923331"/>
                </a:cubicBezTo>
                <a:cubicBezTo>
                  <a:pt x="3041140" y="932056"/>
                  <a:pt x="2961069" y="904299"/>
                  <a:pt x="2788509" y="923331"/>
                </a:cubicBezTo>
                <a:cubicBezTo>
                  <a:pt x="2615949" y="942363"/>
                  <a:pt x="2464134" y="865298"/>
                  <a:pt x="2230807" y="923331"/>
                </a:cubicBezTo>
                <a:cubicBezTo>
                  <a:pt x="1997480" y="981364"/>
                  <a:pt x="1946695" y="881381"/>
                  <a:pt x="1673105" y="923331"/>
                </a:cubicBezTo>
                <a:cubicBezTo>
                  <a:pt x="1399515" y="965281"/>
                  <a:pt x="1357121" y="870583"/>
                  <a:pt x="1115404" y="923331"/>
                </a:cubicBezTo>
                <a:cubicBezTo>
                  <a:pt x="873687" y="976079"/>
                  <a:pt x="676967" y="893134"/>
                  <a:pt x="557702" y="923331"/>
                </a:cubicBezTo>
                <a:cubicBezTo>
                  <a:pt x="438437" y="953528"/>
                  <a:pt x="198726" y="907250"/>
                  <a:pt x="0" y="923331"/>
                </a:cubicBezTo>
                <a:cubicBezTo>
                  <a:pt x="-8444" y="741602"/>
                  <a:pt x="48150" y="624398"/>
                  <a:pt x="0" y="452432"/>
                </a:cubicBezTo>
                <a:cubicBezTo>
                  <a:pt x="-48150" y="280466"/>
                  <a:pt x="44482" y="133400"/>
                  <a:pt x="0" y="0"/>
                </a:cubicBezTo>
                <a:close/>
              </a:path>
              <a:path w="5577018" h="923331" stroke="0" extrusionOk="0">
                <a:moveTo>
                  <a:pt x="0" y="0"/>
                </a:moveTo>
                <a:cubicBezTo>
                  <a:pt x="138180" y="-3181"/>
                  <a:pt x="307270" y="48559"/>
                  <a:pt x="501932" y="0"/>
                </a:cubicBezTo>
                <a:cubicBezTo>
                  <a:pt x="696594" y="-48559"/>
                  <a:pt x="717531" y="10061"/>
                  <a:pt x="892323" y="0"/>
                </a:cubicBezTo>
                <a:cubicBezTo>
                  <a:pt x="1067115" y="-10061"/>
                  <a:pt x="1244418" y="56373"/>
                  <a:pt x="1561565" y="0"/>
                </a:cubicBezTo>
                <a:cubicBezTo>
                  <a:pt x="1878712" y="-56373"/>
                  <a:pt x="1860092" y="28777"/>
                  <a:pt x="2063497" y="0"/>
                </a:cubicBezTo>
                <a:cubicBezTo>
                  <a:pt x="2266902" y="-28777"/>
                  <a:pt x="2456388" y="21313"/>
                  <a:pt x="2565428" y="0"/>
                </a:cubicBezTo>
                <a:cubicBezTo>
                  <a:pt x="2674468" y="-21313"/>
                  <a:pt x="2983473" y="49756"/>
                  <a:pt x="3234670" y="0"/>
                </a:cubicBezTo>
                <a:cubicBezTo>
                  <a:pt x="3485867" y="-49756"/>
                  <a:pt x="3503811" y="37089"/>
                  <a:pt x="3680832" y="0"/>
                </a:cubicBezTo>
                <a:cubicBezTo>
                  <a:pt x="3857853" y="-37089"/>
                  <a:pt x="4070111" y="14836"/>
                  <a:pt x="4350074" y="0"/>
                </a:cubicBezTo>
                <a:cubicBezTo>
                  <a:pt x="4630037" y="-14836"/>
                  <a:pt x="4761613" y="70244"/>
                  <a:pt x="5019316" y="0"/>
                </a:cubicBezTo>
                <a:cubicBezTo>
                  <a:pt x="5277019" y="-70244"/>
                  <a:pt x="5304076" y="10479"/>
                  <a:pt x="5577018" y="0"/>
                </a:cubicBezTo>
                <a:cubicBezTo>
                  <a:pt x="5607570" y="219931"/>
                  <a:pt x="5535313" y="331858"/>
                  <a:pt x="5577018" y="480132"/>
                </a:cubicBezTo>
                <a:cubicBezTo>
                  <a:pt x="5618723" y="628406"/>
                  <a:pt x="5543519" y="734450"/>
                  <a:pt x="5577018" y="923331"/>
                </a:cubicBezTo>
                <a:cubicBezTo>
                  <a:pt x="5486656" y="944693"/>
                  <a:pt x="5373342" y="917109"/>
                  <a:pt x="5186627" y="923331"/>
                </a:cubicBezTo>
                <a:cubicBezTo>
                  <a:pt x="4999912" y="929553"/>
                  <a:pt x="4797466" y="890170"/>
                  <a:pt x="4517385" y="923331"/>
                </a:cubicBezTo>
                <a:cubicBezTo>
                  <a:pt x="4237304" y="956492"/>
                  <a:pt x="4292793" y="878758"/>
                  <a:pt x="4071223" y="923331"/>
                </a:cubicBezTo>
                <a:cubicBezTo>
                  <a:pt x="3849653" y="967904"/>
                  <a:pt x="3740282" y="859296"/>
                  <a:pt x="3513521" y="923331"/>
                </a:cubicBezTo>
                <a:cubicBezTo>
                  <a:pt x="3286760" y="987366"/>
                  <a:pt x="3149858" y="843528"/>
                  <a:pt x="2844279" y="923331"/>
                </a:cubicBezTo>
                <a:cubicBezTo>
                  <a:pt x="2538700" y="1003134"/>
                  <a:pt x="2467910" y="875964"/>
                  <a:pt x="2286577" y="923331"/>
                </a:cubicBezTo>
                <a:cubicBezTo>
                  <a:pt x="2105244" y="970698"/>
                  <a:pt x="2074215" y="904442"/>
                  <a:pt x="1896186" y="923331"/>
                </a:cubicBezTo>
                <a:cubicBezTo>
                  <a:pt x="1718157" y="942220"/>
                  <a:pt x="1572307" y="890534"/>
                  <a:pt x="1450025" y="923331"/>
                </a:cubicBezTo>
                <a:cubicBezTo>
                  <a:pt x="1327743" y="956128"/>
                  <a:pt x="1079125" y="903181"/>
                  <a:pt x="780783" y="923331"/>
                </a:cubicBezTo>
                <a:cubicBezTo>
                  <a:pt x="482441" y="943481"/>
                  <a:pt x="218599" y="847143"/>
                  <a:pt x="0" y="923331"/>
                </a:cubicBezTo>
                <a:cubicBezTo>
                  <a:pt x="-17195" y="828478"/>
                  <a:pt x="13193" y="630804"/>
                  <a:pt x="0" y="480132"/>
                </a:cubicBezTo>
                <a:cubicBezTo>
                  <a:pt x="-13193" y="329460"/>
                  <a:pt x="33197" y="194430"/>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kumimoji="1" lang="en-US" altLang="ko-KR" sz="4000" dirty="0">
                <a:solidFill>
                  <a:schemeClr val="bg1"/>
                </a:solidFill>
                <a:latin typeface="Courier New" panose="02070309020205020404" pitchFamily="49" charset="0"/>
                <a:cs typeface="Courier New" panose="02070309020205020404" pitchFamily="49" charset="0"/>
              </a:rPr>
              <a:t>The Reflector</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0870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E417-BE59-489D-6239-2B3000458C41}"/>
            </a:ext>
          </a:extLst>
        </p:cNvPr>
        <p:cNvGrpSpPr/>
        <p:nvPr/>
      </p:nvGrpSpPr>
      <p:grpSpPr>
        <a:xfrm>
          <a:off x="0" y="0"/>
          <a:ext cx="0" cy="0"/>
          <a:chOff x="0" y="0"/>
          <a:chExt cx="0" cy="0"/>
        </a:xfrm>
      </p:grpSpPr>
      <p:pic>
        <p:nvPicPr>
          <p:cNvPr id="4" name="그림 3" descr="도표, 평면도, 기술 도면, 개략도이(가) 표시된 사진&#10;&#10;AI 생성 콘텐츠는 정확하지 않을 수 있습니다.">
            <a:extLst>
              <a:ext uri="{FF2B5EF4-FFF2-40B4-BE49-F238E27FC236}">
                <a16:creationId xmlns:a16="http://schemas.microsoft.com/office/drawing/2014/main" id="{7C7A9D3A-C86E-69DF-FB5A-2A26ABB8882B}"/>
              </a:ext>
            </a:extLst>
          </p:cNvPr>
          <p:cNvPicPr>
            <a:picLocks noChangeAspect="1"/>
          </p:cNvPicPr>
          <p:nvPr/>
        </p:nvPicPr>
        <p:blipFill>
          <a:blip r:embed="rId2"/>
          <a:stretch>
            <a:fillRect/>
          </a:stretch>
        </p:blipFill>
        <p:spPr>
          <a:xfrm>
            <a:off x="7204880" y="4335591"/>
            <a:ext cx="4323974" cy="1922751"/>
          </a:xfrm>
          <a:prstGeom prst="rect">
            <a:avLst/>
          </a:prstGeom>
        </p:spPr>
      </p:pic>
      <p:sp>
        <p:nvSpPr>
          <p:cNvPr id="6" name="TextBox 5">
            <a:extLst>
              <a:ext uri="{FF2B5EF4-FFF2-40B4-BE49-F238E27FC236}">
                <a16:creationId xmlns:a16="http://schemas.microsoft.com/office/drawing/2014/main" id="{873AA12D-764C-9C4C-0249-E53A560E7A47}"/>
              </a:ext>
            </a:extLst>
          </p:cNvPr>
          <p:cNvSpPr txBox="1"/>
          <p:nvPr/>
        </p:nvSpPr>
        <p:spPr>
          <a:xfrm>
            <a:off x="663146" y="1887463"/>
            <a:ext cx="5715000" cy="464742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The inverse rotor also includes a counter, bit extender, adder, subtractor, comparator, multiplexer, and a programmable logic array. </a:t>
            </a:r>
          </a:p>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Since the decryption process is the reverse of encryption, the signal passes through the inverse rotors in reverse order, starting with the third rotor. The third inverse rotor receives its input from the reflector. This input is first processed by the programmable logic array, which is configured as the inverse of the third rotor’s original logic array. The output from this stage is then adjusted by subtracting the rotor’s current counter value, producing the final output of the third inverse rotor. </a:t>
            </a:r>
          </a:p>
          <a:p>
            <a:pPr marL="285750" indent="-285750">
              <a:spcAft>
                <a:spcPts val="1200"/>
              </a:spcAft>
              <a:buFont typeface="Arial" panose="020B0604020202020204" pitchFamily="34" charset="0"/>
              <a:buChar char="•"/>
            </a:pPr>
            <a:r>
              <a:rPr kumimoji="1" lang="en" altLang="ko-KR" sz="1400" dirty="0">
                <a:latin typeface="Courier New" panose="02070309020205020404" pitchFamily="49" charset="0"/>
                <a:cs typeface="Courier New" panose="02070309020205020404" pitchFamily="49" charset="0"/>
              </a:rPr>
              <a:t>The second and first inverse rotors operate in the same manner. Each receives the output from the previous rotor and uses its corresponding counter value to reverse the transformation.</a:t>
            </a:r>
          </a:p>
          <a:p>
            <a:pPr marL="285750" indent="-285750">
              <a:spcAft>
                <a:spcPts val="1200"/>
              </a:spcAft>
              <a:buFont typeface="Arial" panose="020B0604020202020204" pitchFamily="34" charset="0"/>
              <a:buChar char="•"/>
            </a:pPr>
            <a:endParaRPr kumimoji="1" lang="ko-KR" altLang="en-US" sz="1400" dirty="0">
              <a:latin typeface="Courier New" panose="02070309020205020404" pitchFamily="49" charset="0"/>
              <a:cs typeface="Courier New" panose="02070309020205020404" pitchFamily="49" charset="0"/>
            </a:endParaRPr>
          </a:p>
        </p:txBody>
      </p:sp>
      <p:pic>
        <p:nvPicPr>
          <p:cNvPr id="9" name="내용 개체 틀 4" descr="금속, 기계, 스틸, 공학이(가) 표시된 사진&#10;&#10;AI 생성 콘텐츠는 정확하지 않을 수 있습니다.">
            <a:extLst>
              <a:ext uri="{FF2B5EF4-FFF2-40B4-BE49-F238E27FC236}">
                <a16:creationId xmlns:a16="http://schemas.microsoft.com/office/drawing/2014/main" id="{C522B092-1C7C-08FB-8C30-673664DC0165}"/>
              </a:ext>
            </a:extLst>
          </p:cNvPr>
          <p:cNvPicPr>
            <a:picLocks noGrp="1" noChangeAspect="1"/>
          </p:cNvPicPr>
          <p:nvPr>
            <p:ph idx="1"/>
          </p:nvPr>
        </p:nvPicPr>
        <p:blipFill>
          <a:blip r:embed="rId3"/>
          <a:stretch>
            <a:fillRect/>
          </a:stretch>
        </p:blipFill>
        <p:spPr>
          <a:xfrm>
            <a:off x="7204880" y="625312"/>
            <a:ext cx="4323974" cy="3502419"/>
          </a:xfrm>
          <a:effectLst>
            <a:glow rad="228600">
              <a:schemeClr val="accent2">
                <a:satMod val="175000"/>
                <a:alpha val="40000"/>
              </a:schemeClr>
            </a:glow>
          </a:effectLst>
        </p:spPr>
      </p:pic>
      <p:sp>
        <p:nvSpPr>
          <p:cNvPr id="10" name="제목 1">
            <a:extLst>
              <a:ext uri="{FF2B5EF4-FFF2-40B4-BE49-F238E27FC236}">
                <a16:creationId xmlns:a16="http://schemas.microsoft.com/office/drawing/2014/main" id="{9D66E4D4-BDBA-8178-053D-1C0401D73E4E}"/>
              </a:ext>
            </a:extLst>
          </p:cNvPr>
          <p:cNvSpPr txBox="1">
            <a:spLocks/>
          </p:cNvSpPr>
          <p:nvPr/>
        </p:nvSpPr>
        <p:spPr>
          <a:xfrm>
            <a:off x="663146" y="625312"/>
            <a:ext cx="5715000" cy="923331"/>
          </a:xfrm>
          <a:custGeom>
            <a:avLst/>
            <a:gdLst>
              <a:gd name="connsiteX0" fmla="*/ 0 w 5715000"/>
              <a:gd name="connsiteY0" fmla="*/ 0 h 923331"/>
              <a:gd name="connsiteX1" fmla="*/ 400050 w 5715000"/>
              <a:gd name="connsiteY1" fmla="*/ 0 h 923331"/>
              <a:gd name="connsiteX2" fmla="*/ 1085850 w 5715000"/>
              <a:gd name="connsiteY2" fmla="*/ 0 h 923331"/>
              <a:gd name="connsiteX3" fmla="*/ 1714500 w 5715000"/>
              <a:gd name="connsiteY3" fmla="*/ 0 h 923331"/>
              <a:gd name="connsiteX4" fmla="*/ 2114550 w 5715000"/>
              <a:gd name="connsiteY4" fmla="*/ 0 h 923331"/>
              <a:gd name="connsiteX5" fmla="*/ 2628900 w 5715000"/>
              <a:gd name="connsiteY5" fmla="*/ 0 h 923331"/>
              <a:gd name="connsiteX6" fmla="*/ 3314700 w 5715000"/>
              <a:gd name="connsiteY6" fmla="*/ 0 h 923331"/>
              <a:gd name="connsiteX7" fmla="*/ 3886200 w 5715000"/>
              <a:gd name="connsiteY7" fmla="*/ 0 h 923331"/>
              <a:gd name="connsiteX8" fmla="*/ 4514850 w 5715000"/>
              <a:gd name="connsiteY8" fmla="*/ 0 h 923331"/>
              <a:gd name="connsiteX9" fmla="*/ 5029200 w 5715000"/>
              <a:gd name="connsiteY9" fmla="*/ 0 h 923331"/>
              <a:gd name="connsiteX10" fmla="*/ 5715000 w 5715000"/>
              <a:gd name="connsiteY10" fmla="*/ 0 h 923331"/>
              <a:gd name="connsiteX11" fmla="*/ 5715000 w 5715000"/>
              <a:gd name="connsiteY11" fmla="*/ 480132 h 923331"/>
              <a:gd name="connsiteX12" fmla="*/ 5715000 w 5715000"/>
              <a:gd name="connsiteY12" fmla="*/ 923331 h 923331"/>
              <a:gd name="connsiteX13" fmla="*/ 5314950 w 5715000"/>
              <a:gd name="connsiteY13" fmla="*/ 923331 h 923331"/>
              <a:gd name="connsiteX14" fmla="*/ 4914900 w 5715000"/>
              <a:gd name="connsiteY14" fmla="*/ 923331 h 923331"/>
              <a:gd name="connsiteX15" fmla="*/ 4286250 w 5715000"/>
              <a:gd name="connsiteY15" fmla="*/ 923331 h 923331"/>
              <a:gd name="connsiteX16" fmla="*/ 3886200 w 5715000"/>
              <a:gd name="connsiteY16" fmla="*/ 923331 h 923331"/>
              <a:gd name="connsiteX17" fmla="*/ 3314700 w 5715000"/>
              <a:gd name="connsiteY17" fmla="*/ 923331 h 923331"/>
              <a:gd name="connsiteX18" fmla="*/ 2857500 w 5715000"/>
              <a:gd name="connsiteY18" fmla="*/ 923331 h 923331"/>
              <a:gd name="connsiteX19" fmla="*/ 2286000 w 5715000"/>
              <a:gd name="connsiteY19" fmla="*/ 923331 h 923331"/>
              <a:gd name="connsiteX20" fmla="*/ 1714500 w 5715000"/>
              <a:gd name="connsiteY20" fmla="*/ 923331 h 923331"/>
              <a:gd name="connsiteX21" fmla="*/ 1143000 w 5715000"/>
              <a:gd name="connsiteY21" fmla="*/ 923331 h 923331"/>
              <a:gd name="connsiteX22" fmla="*/ 571500 w 5715000"/>
              <a:gd name="connsiteY22" fmla="*/ 923331 h 923331"/>
              <a:gd name="connsiteX23" fmla="*/ 0 w 5715000"/>
              <a:gd name="connsiteY23" fmla="*/ 923331 h 923331"/>
              <a:gd name="connsiteX24" fmla="*/ 0 w 5715000"/>
              <a:gd name="connsiteY24" fmla="*/ 452432 h 923331"/>
              <a:gd name="connsiteX25" fmla="*/ 0 w 5715000"/>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15000" h="923331" fill="none" extrusionOk="0">
                <a:moveTo>
                  <a:pt x="0" y="0"/>
                </a:moveTo>
                <a:cubicBezTo>
                  <a:pt x="97638" y="-36165"/>
                  <a:pt x="309443" y="5283"/>
                  <a:pt x="400050" y="0"/>
                </a:cubicBezTo>
                <a:cubicBezTo>
                  <a:pt x="490657" y="-5283"/>
                  <a:pt x="907410" y="38353"/>
                  <a:pt x="1085850" y="0"/>
                </a:cubicBezTo>
                <a:cubicBezTo>
                  <a:pt x="1264290" y="-38353"/>
                  <a:pt x="1571896" y="52048"/>
                  <a:pt x="1714500" y="0"/>
                </a:cubicBezTo>
                <a:cubicBezTo>
                  <a:pt x="1857104" y="-52048"/>
                  <a:pt x="1974158" y="43465"/>
                  <a:pt x="2114550" y="0"/>
                </a:cubicBezTo>
                <a:cubicBezTo>
                  <a:pt x="2254942" y="-43465"/>
                  <a:pt x="2406927" y="60886"/>
                  <a:pt x="2628900" y="0"/>
                </a:cubicBezTo>
                <a:cubicBezTo>
                  <a:pt x="2850873" y="-60886"/>
                  <a:pt x="3134286" y="19926"/>
                  <a:pt x="3314700" y="0"/>
                </a:cubicBezTo>
                <a:cubicBezTo>
                  <a:pt x="3495114" y="-19926"/>
                  <a:pt x="3678363" y="29968"/>
                  <a:pt x="3886200" y="0"/>
                </a:cubicBezTo>
                <a:cubicBezTo>
                  <a:pt x="4094037" y="-29968"/>
                  <a:pt x="4339470" y="33079"/>
                  <a:pt x="4514850" y="0"/>
                </a:cubicBezTo>
                <a:cubicBezTo>
                  <a:pt x="4690230" y="-33079"/>
                  <a:pt x="4816147" y="7116"/>
                  <a:pt x="5029200" y="0"/>
                </a:cubicBezTo>
                <a:cubicBezTo>
                  <a:pt x="5242253" y="-7116"/>
                  <a:pt x="5434790" y="71575"/>
                  <a:pt x="5715000" y="0"/>
                </a:cubicBezTo>
                <a:cubicBezTo>
                  <a:pt x="5766859" y="166644"/>
                  <a:pt x="5671677" y="295014"/>
                  <a:pt x="5715000" y="480132"/>
                </a:cubicBezTo>
                <a:cubicBezTo>
                  <a:pt x="5758323" y="665250"/>
                  <a:pt x="5696933" y="752512"/>
                  <a:pt x="5715000" y="923331"/>
                </a:cubicBezTo>
                <a:cubicBezTo>
                  <a:pt x="5617185" y="955215"/>
                  <a:pt x="5481636" y="883620"/>
                  <a:pt x="5314950" y="923331"/>
                </a:cubicBezTo>
                <a:cubicBezTo>
                  <a:pt x="5148264" y="963042"/>
                  <a:pt x="5055491" y="914153"/>
                  <a:pt x="4914900" y="923331"/>
                </a:cubicBezTo>
                <a:cubicBezTo>
                  <a:pt x="4774309" y="932509"/>
                  <a:pt x="4510292" y="896283"/>
                  <a:pt x="4286250" y="923331"/>
                </a:cubicBezTo>
                <a:cubicBezTo>
                  <a:pt x="4062208" y="950379"/>
                  <a:pt x="4018052" y="912945"/>
                  <a:pt x="3886200" y="923331"/>
                </a:cubicBezTo>
                <a:cubicBezTo>
                  <a:pt x="3754348" y="933717"/>
                  <a:pt x="3446225" y="889852"/>
                  <a:pt x="3314700" y="923331"/>
                </a:cubicBezTo>
                <a:cubicBezTo>
                  <a:pt x="3183175" y="956810"/>
                  <a:pt x="3030666" y="874542"/>
                  <a:pt x="2857500" y="923331"/>
                </a:cubicBezTo>
                <a:cubicBezTo>
                  <a:pt x="2684334" y="972120"/>
                  <a:pt x="2405827" y="917463"/>
                  <a:pt x="2286000" y="923331"/>
                </a:cubicBezTo>
                <a:cubicBezTo>
                  <a:pt x="2166173" y="929199"/>
                  <a:pt x="1970247" y="872346"/>
                  <a:pt x="1714500" y="923331"/>
                </a:cubicBezTo>
                <a:cubicBezTo>
                  <a:pt x="1458753" y="974316"/>
                  <a:pt x="1293058" y="900028"/>
                  <a:pt x="1143000" y="923331"/>
                </a:cubicBezTo>
                <a:cubicBezTo>
                  <a:pt x="992942" y="946634"/>
                  <a:pt x="822140" y="887113"/>
                  <a:pt x="571500" y="923331"/>
                </a:cubicBezTo>
                <a:cubicBezTo>
                  <a:pt x="320860" y="959549"/>
                  <a:pt x="248181" y="870211"/>
                  <a:pt x="0" y="923331"/>
                </a:cubicBezTo>
                <a:cubicBezTo>
                  <a:pt x="-8444" y="741602"/>
                  <a:pt x="48150" y="624398"/>
                  <a:pt x="0" y="452432"/>
                </a:cubicBezTo>
                <a:cubicBezTo>
                  <a:pt x="-48150" y="280466"/>
                  <a:pt x="44482" y="133400"/>
                  <a:pt x="0" y="0"/>
                </a:cubicBezTo>
                <a:close/>
              </a:path>
              <a:path w="5715000" h="923331" stroke="0" extrusionOk="0">
                <a:moveTo>
                  <a:pt x="0" y="0"/>
                </a:moveTo>
                <a:cubicBezTo>
                  <a:pt x="133199" y="-51655"/>
                  <a:pt x="396165" y="51053"/>
                  <a:pt x="514350" y="0"/>
                </a:cubicBezTo>
                <a:cubicBezTo>
                  <a:pt x="632535" y="-51053"/>
                  <a:pt x="751198" y="21839"/>
                  <a:pt x="914400" y="0"/>
                </a:cubicBezTo>
                <a:cubicBezTo>
                  <a:pt x="1077602" y="-21839"/>
                  <a:pt x="1259660" y="3533"/>
                  <a:pt x="1600200" y="0"/>
                </a:cubicBezTo>
                <a:cubicBezTo>
                  <a:pt x="1940740" y="-3533"/>
                  <a:pt x="1877352" y="11907"/>
                  <a:pt x="2114550" y="0"/>
                </a:cubicBezTo>
                <a:cubicBezTo>
                  <a:pt x="2351748" y="-11907"/>
                  <a:pt x="2397831" y="59479"/>
                  <a:pt x="2628900" y="0"/>
                </a:cubicBezTo>
                <a:cubicBezTo>
                  <a:pt x="2859969" y="-59479"/>
                  <a:pt x="3027716" y="39583"/>
                  <a:pt x="3314700" y="0"/>
                </a:cubicBezTo>
                <a:cubicBezTo>
                  <a:pt x="3601684" y="-39583"/>
                  <a:pt x="3638315" y="16443"/>
                  <a:pt x="3771900" y="0"/>
                </a:cubicBezTo>
                <a:cubicBezTo>
                  <a:pt x="3905485" y="-16443"/>
                  <a:pt x="4202353" y="80439"/>
                  <a:pt x="4457700" y="0"/>
                </a:cubicBezTo>
                <a:cubicBezTo>
                  <a:pt x="4713047" y="-80439"/>
                  <a:pt x="4838191" y="29029"/>
                  <a:pt x="5143500" y="0"/>
                </a:cubicBezTo>
                <a:cubicBezTo>
                  <a:pt x="5448809" y="-29029"/>
                  <a:pt x="5483930" y="6061"/>
                  <a:pt x="5715000" y="0"/>
                </a:cubicBezTo>
                <a:cubicBezTo>
                  <a:pt x="5745552" y="219931"/>
                  <a:pt x="5673295" y="331858"/>
                  <a:pt x="5715000" y="480132"/>
                </a:cubicBezTo>
                <a:cubicBezTo>
                  <a:pt x="5756705" y="628406"/>
                  <a:pt x="5681501" y="734450"/>
                  <a:pt x="5715000" y="923331"/>
                </a:cubicBezTo>
                <a:cubicBezTo>
                  <a:pt x="5529540" y="965284"/>
                  <a:pt x="5407502" y="915853"/>
                  <a:pt x="5314950" y="923331"/>
                </a:cubicBezTo>
                <a:cubicBezTo>
                  <a:pt x="5222398" y="930809"/>
                  <a:pt x="4927738" y="914530"/>
                  <a:pt x="4629150" y="923331"/>
                </a:cubicBezTo>
                <a:cubicBezTo>
                  <a:pt x="4330562" y="932132"/>
                  <a:pt x="4330945" y="893728"/>
                  <a:pt x="4171950" y="923331"/>
                </a:cubicBezTo>
                <a:cubicBezTo>
                  <a:pt x="4012955" y="952934"/>
                  <a:pt x="3770699" y="869628"/>
                  <a:pt x="3600450" y="923331"/>
                </a:cubicBezTo>
                <a:cubicBezTo>
                  <a:pt x="3430201" y="977034"/>
                  <a:pt x="3152054" y="844723"/>
                  <a:pt x="2914650" y="923331"/>
                </a:cubicBezTo>
                <a:cubicBezTo>
                  <a:pt x="2677246" y="1001939"/>
                  <a:pt x="2509322" y="864201"/>
                  <a:pt x="2343150" y="923331"/>
                </a:cubicBezTo>
                <a:cubicBezTo>
                  <a:pt x="2176978" y="982461"/>
                  <a:pt x="2080837" y="899120"/>
                  <a:pt x="1943100" y="923331"/>
                </a:cubicBezTo>
                <a:cubicBezTo>
                  <a:pt x="1805363" y="947542"/>
                  <a:pt x="1589748" y="922004"/>
                  <a:pt x="1485900" y="923331"/>
                </a:cubicBezTo>
                <a:cubicBezTo>
                  <a:pt x="1382052" y="924658"/>
                  <a:pt x="1017825" y="923131"/>
                  <a:pt x="800100" y="923331"/>
                </a:cubicBezTo>
                <a:cubicBezTo>
                  <a:pt x="582375" y="923531"/>
                  <a:pt x="291589" y="828868"/>
                  <a:pt x="0" y="923331"/>
                </a:cubicBezTo>
                <a:cubicBezTo>
                  <a:pt x="-17195" y="828478"/>
                  <a:pt x="13193" y="630804"/>
                  <a:pt x="0" y="480132"/>
                </a:cubicBezTo>
                <a:cubicBezTo>
                  <a:pt x="-13193" y="329460"/>
                  <a:pt x="33197" y="194430"/>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chor="ctr">
            <a:normAutofit/>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kumimoji="1" lang="en-US" altLang="ko-KR" sz="4000" dirty="0">
                <a:solidFill>
                  <a:schemeClr val="bg1"/>
                </a:solidFill>
                <a:latin typeface="Courier New" panose="02070309020205020404" pitchFamily="49" charset="0"/>
                <a:cs typeface="Courier New" panose="02070309020205020404" pitchFamily="49" charset="0"/>
              </a:rPr>
              <a:t>The Inverse Rotor</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01820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5A2C5-99E0-F2EE-1E37-78707443F369}"/>
            </a:ext>
          </a:extLst>
        </p:cNvPr>
        <p:cNvGrpSpPr/>
        <p:nvPr/>
      </p:nvGrpSpPr>
      <p:grpSpPr>
        <a:xfrm>
          <a:off x="0" y="0"/>
          <a:ext cx="0" cy="0"/>
          <a:chOff x="0" y="0"/>
          <a:chExt cx="0" cy="0"/>
        </a:xfrm>
      </p:grpSpPr>
      <p:pic>
        <p:nvPicPr>
          <p:cNvPr id="4" name="그림 3" descr="텍스트, 스크린샷, 폰트, 라인이(가) 표시된 사진&#10;&#10;AI 생성 콘텐츠는 정확하지 않을 수 있습니다.">
            <a:extLst>
              <a:ext uri="{FF2B5EF4-FFF2-40B4-BE49-F238E27FC236}">
                <a16:creationId xmlns:a16="http://schemas.microsoft.com/office/drawing/2014/main" id="{A4CC4171-95F4-A9C1-8D92-1C858B750084}"/>
              </a:ext>
            </a:extLst>
          </p:cNvPr>
          <p:cNvPicPr>
            <a:picLocks noChangeAspect="1"/>
          </p:cNvPicPr>
          <p:nvPr/>
        </p:nvPicPr>
        <p:blipFill>
          <a:blip r:embed="rId2"/>
          <a:stretch>
            <a:fillRect/>
          </a:stretch>
        </p:blipFill>
        <p:spPr>
          <a:xfrm>
            <a:off x="774190" y="3853365"/>
            <a:ext cx="4077564" cy="2046593"/>
          </a:xfrm>
          <a:prstGeom prst="rect">
            <a:avLst/>
          </a:prstGeom>
        </p:spPr>
      </p:pic>
      <p:sp>
        <p:nvSpPr>
          <p:cNvPr id="6" name="TextBox 5">
            <a:extLst>
              <a:ext uri="{FF2B5EF4-FFF2-40B4-BE49-F238E27FC236}">
                <a16:creationId xmlns:a16="http://schemas.microsoft.com/office/drawing/2014/main" id="{B5C07A41-6B31-C911-B25A-ABA54722E4E1}"/>
              </a:ext>
            </a:extLst>
          </p:cNvPr>
          <p:cNvSpPr txBox="1"/>
          <p:nvPr/>
        </p:nvSpPr>
        <p:spPr>
          <a:xfrm>
            <a:off x="5378981" y="2133046"/>
            <a:ext cx="6199300" cy="163121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The inverse plugboard is made by tunnel and decoder circuits. </a:t>
            </a:r>
          </a:p>
          <a:p>
            <a:pPr marL="285750" indent="-285750">
              <a:spcAft>
                <a:spcPts val="1200"/>
              </a:spcAft>
              <a:buFont typeface="Arial" panose="020B0604020202020204" pitchFamily="34" charset="0"/>
              <a:buChar char="•"/>
            </a:pPr>
            <a:r>
              <a:rPr kumimoji="1" lang="en" altLang="ko-KR" dirty="0">
                <a:latin typeface="Courier New" panose="02070309020205020404" pitchFamily="49" charset="0"/>
                <a:cs typeface="Courier New" panose="02070309020205020404" pitchFamily="49" charset="0"/>
              </a:rPr>
              <a:t>It decodes the 5-bit binary input data back into its corresponding alphabetical character. </a:t>
            </a:r>
            <a:endParaRPr kumimoji="1" lang="ko-KR" altLang="en-US" dirty="0">
              <a:latin typeface="Courier New" panose="02070309020205020404" pitchFamily="49" charset="0"/>
              <a:cs typeface="Courier New" panose="02070309020205020404" pitchFamily="49" charset="0"/>
            </a:endParaRPr>
          </a:p>
        </p:txBody>
      </p:sp>
      <p:pic>
        <p:nvPicPr>
          <p:cNvPr id="10" name="내용 개체 틀 4" descr="실내, 계산기, 뮤지컬, 타자기이(가) 표시된 사진&#10;&#10;AI 생성 콘텐츠는 정확하지 않을 수 있습니다.">
            <a:extLst>
              <a:ext uri="{FF2B5EF4-FFF2-40B4-BE49-F238E27FC236}">
                <a16:creationId xmlns:a16="http://schemas.microsoft.com/office/drawing/2014/main" id="{3A1E13D8-F7F4-727A-F39F-D795CFD38668}"/>
              </a:ext>
            </a:extLst>
          </p:cNvPr>
          <p:cNvPicPr>
            <a:picLocks noGrp="1" noChangeAspect="1"/>
          </p:cNvPicPr>
          <p:nvPr>
            <p:ph idx="1"/>
          </p:nvPr>
        </p:nvPicPr>
        <p:blipFill>
          <a:blip r:embed="rId3"/>
          <a:stretch>
            <a:fillRect/>
          </a:stretch>
        </p:blipFill>
        <p:spPr>
          <a:xfrm>
            <a:off x="774191" y="857887"/>
            <a:ext cx="4077565" cy="2772744"/>
          </a:xfrm>
          <a:effectLst>
            <a:glow rad="228600">
              <a:schemeClr val="accent2">
                <a:satMod val="175000"/>
                <a:alpha val="40000"/>
              </a:schemeClr>
            </a:glow>
          </a:effectLst>
        </p:spPr>
      </p:pic>
      <p:sp>
        <p:nvSpPr>
          <p:cNvPr id="11" name="제목 1">
            <a:extLst>
              <a:ext uri="{FF2B5EF4-FFF2-40B4-BE49-F238E27FC236}">
                <a16:creationId xmlns:a16="http://schemas.microsoft.com/office/drawing/2014/main" id="{960839A7-2E94-00BD-AD83-3F99C3864C36}"/>
              </a:ext>
            </a:extLst>
          </p:cNvPr>
          <p:cNvSpPr txBox="1">
            <a:spLocks/>
          </p:cNvSpPr>
          <p:nvPr/>
        </p:nvSpPr>
        <p:spPr>
          <a:xfrm>
            <a:off x="5378981" y="857887"/>
            <a:ext cx="6199300" cy="923331"/>
          </a:xfrm>
          <a:custGeom>
            <a:avLst/>
            <a:gdLst>
              <a:gd name="connsiteX0" fmla="*/ 0 w 6199300"/>
              <a:gd name="connsiteY0" fmla="*/ 0 h 923331"/>
              <a:gd name="connsiteX1" fmla="*/ 625566 w 6199300"/>
              <a:gd name="connsiteY1" fmla="*/ 0 h 923331"/>
              <a:gd name="connsiteX2" fmla="*/ 1003159 w 6199300"/>
              <a:gd name="connsiteY2" fmla="*/ 0 h 923331"/>
              <a:gd name="connsiteX3" fmla="*/ 1504739 w 6199300"/>
              <a:gd name="connsiteY3" fmla="*/ 0 h 923331"/>
              <a:gd name="connsiteX4" fmla="*/ 2192298 w 6199300"/>
              <a:gd name="connsiteY4" fmla="*/ 0 h 923331"/>
              <a:gd name="connsiteX5" fmla="*/ 2755871 w 6199300"/>
              <a:gd name="connsiteY5" fmla="*/ 0 h 923331"/>
              <a:gd name="connsiteX6" fmla="*/ 3381436 w 6199300"/>
              <a:gd name="connsiteY6" fmla="*/ 0 h 923331"/>
              <a:gd name="connsiteX7" fmla="*/ 3883016 w 6199300"/>
              <a:gd name="connsiteY7" fmla="*/ 0 h 923331"/>
              <a:gd name="connsiteX8" fmla="*/ 4446589 w 6199300"/>
              <a:gd name="connsiteY8" fmla="*/ 0 h 923331"/>
              <a:gd name="connsiteX9" fmla="*/ 5134148 w 6199300"/>
              <a:gd name="connsiteY9" fmla="*/ 0 h 923331"/>
              <a:gd name="connsiteX10" fmla="*/ 5573734 w 6199300"/>
              <a:gd name="connsiteY10" fmla="*/ 0 h 923331"/>
              <a:gd name="connsiteX11" fmla="*/ 6199300 w 6199300"/>
              <a:gd name="connsiteY11" fmla="*/ 0 h 923331"/>
              <a:gd name="connsiteX12" fmla="*/ 6199300 w 6199300"/>
              <a:gd name="connsiteY12" fmla="*/ 443199 h 923331"/>
              <a:gd name="connsiteX13" fmla="*/ 6199300 w 6199300"/>
              <a:gd name="connsiteY13" fmla="*/ 923331 h 923331"/>
              <a:gd name="connsiteX14" fmla="*/ 5635727 w 6199300"/>
              <a:gd name="connsiteY14" fmla="*/ 923331 h 923331"/>
              <a:gd name="connsiteX15" fmla="*/ 5072155 w 6199300"/>
              <a:gd name="connsiteY15" fmla="*/ 923331 h 923331"/>
              <a:gd name="connsiteX16" fmla="*/ 4632568 w 6199300"/>
              <a:gd name="connsiteY16" fmla="*/ 923331 h 923331"/>
              <a:gd name="connsiteX17" fmla="*/ 4068995 w 6199300"/>
              <a:gd name="connsiteY17" fmla="*/ 923331 h 923331"/>
              <a:gd name="connsiteX18" fmla="*/ 3505422 w 6199300"/>
              <a:gd name="connsiteY18" fmla="*/ 923331 h 923331"/>
              <a:gd name="connsiteX19" fmla="*/ 2941850 w 6199300"/>
              <a:gd name="connsiteY19" fmla="*/ 923331 h 923331"/>
              <a:gd name="connsiteX20" fmla="*/ 2378277 w 6199300"/>
              <a:gd name="connsiteY20" fmla="*/ 923331 h 923331"/>
              <a:gd name="connsiteX21" fmla="*/ 1876697 w 6199300"/>
              <a:gd name="connsiteY21" fmla="*/ 923331 h 923331"/>
              <a:gd name="connsiteX22" fmla="*/ 1251131 w 6199300"/>
              <a:gd name="connsiteY22" fmla="*/ 923331 h 923331"/>
              <a:gd name="connsiteX23" fmla="*/ 687559 w 6199300"/>
              <a:gd name="connsiteY23" fmla="*/ 923331 h 923331"/>
              <a:gd name="connsiteX24" fmla="*/ 0 w 6199300"/>
              <a:gd name="connsiteY24" fmla="*/ 923331 h 923331"/>
              <a:gd name="connsiteX25" fmla="*/ 0 w 6199300"/>
              <a:gd name="connsiteY25" fmla="*/ 443199 h 923331"/>
              <a:gd name="connsiteX26" fmla="*/ 0 w 6199300"/>
              <a:gd name="connsiteY26"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199300" h="923331" fill="none" extrusionOk="0">
                <a:moveTo>
                  <a:pt x="0" y="0"/>
                </a:moveTo>
                <a:cubicBezTo>
                  <a:pt x="242419" y="-5799"/>
                  <a:pt x="372442" y="32777"/>
                  <a:pt x="625566" y="0"/>
                </a:cubicBezTo>
                <a:cubicBezTo>
                  <a:pt x="878690" y="-32777"/>
                  <a:pt x="909121" y="31306"/>
                  <a:pt x="1003159" y="0"/>
                </a:cubicBezTo>
                <a:cubicBezTo>
                  <a:pt x="1097197" y="-31306"/>
                  <a:pt x="1343292" y="48120"/>
                  <a:pt x="1504739" y="0"/>
                </a:cubicBezTo>
                <a:cubicBezTo>
                  <a:pt x="1666186" y="-48120"/>
                  <a:pt x="1929990" y="55016"/>
                  <a:pt x="2192298" y="0"/>
                </a:cubicBezTo>
                <a:cubicBezTo>
                  <a:pt x="2454606" y="-55016"/>
                  <a:pt x="2571447" y="29410"/>
                  <a:pt x="2755871" y="0"/>
                </a:cubicBezTo>
                <a:cubicBezTo>
                  <a:pt x="2940295" y="-29410"/>
                  <a:pt x="3214409" y="46019"/>
                  <a:pt x="3381436" y="0"/>
                </a:cubicBezTo>
                <a:cubicBezTo>
                  <a:pt x="3548464" y="-46019"/>
                  <a:pt x="3643879" y="24746"/>
                  <a:pt x="3883016" y="0"/>
                </a:cubicBezTo>
                <a:cubicBezTo>
                  <a:pt x="4122153" y="-24746"/>
                  <a:pt x="4276121" y="7479"/>
                  <a:pt x="4446589" y="0"/>
                </a:cubicBezTo>
                <a:cubicBezTo>
                  <a:pt x="4617057" y="-7479"/>
                  <a:pt x="4798007" y="34855"/>
                  <a:pt x="5134148" y="0"/>
                </a:cubicBezTo>
                <a:cubicBezTo>
                  <a:pt x="5470289" y="-34855"/>
                  <a:pt x="5361508" y="26226"/>
                  <a:pt x="5573734" y="0"/>
                </a:cubicBezTo>
                <a:cubicBezTo>
                  <a:pt x="5785960" y="-26226"/>
                  <a:pt x="6006733" y="46467"/>
                  <a:pt x="6199300" y="0"/>
                </a:cubicBezTo>
                <a:cubicBezTo>
                  <a:pt x="6208488" y="132354"/>
                  <a:pt x="6153955" y="241065"/>
                  <a:pt x="6199300" y="443199"/>
                </a:cubicBezTo>
                <a:cubicBezTo>
                  <a:pt x="6244645" y="645333"/>
                  <a:pt x="6168354" y="715682"/>
                  <a:pt x="6199300" y="923331"/>
                </a:cubicBezTo>
                <a:cubicBezTo>
                  <a:pt x="5993558" y="954019"/>
                  <a:pt x="5874384" y="892327"/>
                  <a:pt x="5635727" y="923331"/>
                </a:cubicBezTo>
                <a:cubicBezTo>
                  <a:pt x="5397070" y="954335"/>
                  <a:pt x="5295204" y="886563"/>
                  <a:pt x="5072155" y="923331"/>
                </a:cubicBezTo>
                <a:cubicBezTo>
                  <a:pt x="4849106" y="960099"/>
                  <a:pt x="4761713" y="906400"/>
                  <a:pt x="4632568" y="923331"/>
                </a:cubicBezTo>
                <a:cubicBezTo>
                  <a:pt x="4503423" y="940262"/>
                  <a:pt x="4260285" y="863572"/>
                  <a:pt x="4068995" y="923331"/>
                </a:cubicBezTo>
                <a:cubicBezTo>
                  <a:pt x="3877705" y="983090"/>
                  <a:pt x="3625191" y="887678"/>
                  <a:pt x="3505422" y="923331"/>
                </a:cubicBezTo>
                <a:cubicBezTo>
                  <a:pt x="3385653" y="958984"/>
                  <a:pt x="3220854" y="918228"/>
                  <a:pt x="2941850" y="923331"/>
                </a:cubicBezTo>
                <a:cubicBezTo>
                  <a:pt x="2662846" y="928434"/>
                  <a:pt x="2547473" y="883543"/>
                  <a:pt x="2378277" y="923331"/>
                </a:cubicBezTo>
                <a:cubicBezTo>
                  <a:pt x="2209081" y="963119"/>
                  <a:pt x="2111396" y="895901"/>
                  <a:pt x="1876697" y="923331"/>
                </a:cubicBezTo>
                <a:cubicBezTo>
                  <a:pt x="1641998" y="950761"/>
                  <a:pt x="1501048" y="868307"/>
                  <a:pt x="1251131" y="923331"/>
                </a:cubicBezTo>
                <a:cubicBezTo>
                  <a:pt x="1001214" y="978355"/>
                  <a:pt x="961875" y="856174"/>
                  <a:pt x="687559" y="923331"/>
                </a:cubicBezTo>
                <a:cubicBezTo>
                  <a:pt x="413243" y="990488"/>
                  <a:pt x="211108" y="911808"/>
                  <a:pt x="0" y="923331"/>
                </a:cubicBezTo>
                <a:cubicBezTo>
                  <a:pt x="-4570" y="701722"/>
                  <a:pt x="24741" y="571861"/>
                  <a:pt x="0" y="443199"/>
                </a:cubicBezTo>
                <a:cubicBezTo>
                  <a:pt x="-24741" y="314537"/>
                  <a:pt x="8816" y="150635"/>
                  <a:pt x="0" y="0"/>
                </a:cubicBezTo>
                <a:close/>
              </a:path>
              <a:path w="6199300" h="923331" stroke="0" extrusionOk="0">
                <a:moveTo>
                  <a:pt x="0" y="0"/>
                </a:moveTo>
                <a:cubicBezTo>
                  <a:pt x="110261" y="-49475"/>
                  <a:pt x="388652" y="52900"/>
                  <a:pt x="501580" y="0"/>
                </a:cubicBezTo>
                <a:cubicBezTo>
                  <a:pt x="614508" y="-52900"/>
                  <a:pt x="745321" y="33802"/>
                  <a:pt x="879173" y="0"/>
                </a:cubicBezTo>
                <a:cubicBezTo>
                  <a:pt x="1013025" y="-33802"/>
                  <a:pt x="1424599" y="41600"/>
                  <a:pt x="1566732" y="0"/>
                </a:cubicBezTo>
                <a:cubicBezTo>
                  <a:pt x="1708865" y="-41600"/>
                  <a:pt x="1818548" y="36254"/>
                  <a:pt x="2068312" y="0"/>
                </a:cubicBezTo>
                <a:cubicBezTo>
                  <a:pt x="2318076" y="-36254"/>
                  <a:pt x="2422797" y="8715"/>
                  <a:pt x="2569892" y="0"/>
                </a:cubicBezTo>
                <a:cubicBezTo>
                  <a:pt x="2716987" y="-8715"/>
                  <a:pt x="2939671" y="43236"/>
                  <a:pt x="3257450" y="0"/>
                </a:cubicBezTo>
                <a:cubicBezTo>
                  <a:pt x="3575229" y="-43236"/>
                  <a:pt x="3600550" y="405"/>
                  <a:pt x="3697037" y="0"/>
                </a:cubicBezTo>
                <a:cubicBezTo>
                  <a:pt x="3793524" y="-405"/>
                  <a:pt x="4078179" y="67538"/>
                  <a:pt x="4384596" y="0"/>
                </a:cubicBezTo>
                <a:cubicBezTo>
                  <a:pt x="4691013" y="-67538"/>
                  <a:pt x="4898421" y="62569"/>
                  <a:pt x="5072155" y="0"/>
                </a:cubicBezTo>
                <a:cubicBezTo>
                  <a:pt x="5245889" y="-62569"/>
                  <a:pt x="5520946" y="44069"/>
                  <a:pt x="5635727" y="0"/>
                </a:cubicBezTo>
                <a:cubicBezTo>
                  <a:pt x="5750508" y="-44069"/>
                  <a:pt x="6067966" y="65647"/>
                  <a:pt x="6199300" y="0"/>
                </a:cubicBezTo>
                <a:cubicBezTo>
                  <a:pt x="6230521" y="153294"/>
                  <a:pt x="6191281" y="360020"/>
                  <a:pt x="6199300" y="452432"/>
                </a:cubicBezTo>
                <a:cubicBezTo>
                  <a:pt x="6207319" y="544844"/>
                  <a:pt x="6184282" y="827307"/>
                  <a:pt x="6199300" y="923331"/>
                </a:cubicBezTo>
                <a:cubicBezTo>
                  <a:pt x="5978139" y="982300"/>
                  <a:pt x="5756250" y="920569"/>
                  <a:pt x="5635727" y="923331"/>
                </a:cubicBezTo>
                <a:cubicBezTo>
                  <a:pt x="5515204" y="926093"/>
                  <a:pt x="5328785" y="894435"/>
                  <a:pt x="5196141" y="923331"/>
                </a:cubicBezTo>
                <a:cubicBezTo>
                  <a:pt x="5063497" y="952227"/>
                  <a:pt x="4808652" y="879331"/>
                  <a:pt x="4632568" y="923331"/>
                </a:cubicBezTo>
                <a:cubicBezTo>
                  <a:pt x="4456484" y="967331"/>
                  <a:pt x="4109817" y="877443"/>
                  <a:pt x="3945009" y="923331"/>
                </a:cubicBezTo>
                <a:cubicBezTo>
                  <a:pt x="3780201" y="969219"/>
                  <a:pt x="3550043" y="871205"/>
                  <a:pt x="3381436" y="923331"/>
                </a:cubicBezTo>
                <a:cubicBezTo>
                  <a:pt x="3212829" y="975457"/>
                  <a:pt x="3088806" y="905999"/>
                  <a:pt x="3003843" y="923331"/>
                </a:cubicBezTo>
                <a:cubicBezTo>
                  <a:pt x="2918880" y="940663"/>
                  <a:pt x="2778566" y="905777"/>
                  <a:pt x="2564256" y="923331"/>
                </a:cubicBezTo>
                <a:cubicBezTo>
                  <a:pt x="2349946" y="940885"/>
                  <a:pt x="2046936" y="859697"/>
                  <a:pt x="1876697" y="923331"/>
                </a:cubicBezTo>
                <a:cubicBezTo>
                  <a:pt x="1706458" y="986965"/>
                  <a:pt x="1534588" y="909363"/>
                  <a:pt x="1313124" y="923331"/>
                </a:cubicBezTo>
                <a:cubicBezTo>
                  <a:pt x="1091660" y="937299"/>
                  <a:pt x="988863" y="889821"/>
                  <a:pt x="873538" y="923331"/>
                </a:cubicBezTo>
                <a:cubicBezTo>
                  <a:pt x="758213" y="956841"/>
                  <a:pt x="398149" y="829592"/>
                  <a:pt x="0" y="923331"/>
                </a:cubicBezTo>
                <a:cubicBezTo>
                  <a:pt x="-13200" y="835073"/>
                  <a:pt x="38263" y="668005"/>
                  <a:pt x="0" y="489365"/>
                </a:cubicBezTo>
                <a:cubicBezTo>
                  <a:pt x="-38263" y="310725"/>
                  <a:pt x="24333" y="226802"/>
                  <a:pt x="0" y="0"/>
                </a:cubicBezTo>
                <a:close/>
              </a:path>
            </a:pathLst>
          </a:custGeom>
          <a:blipFill>
            <a:blip r:embed="rId4"/>
            <a:tile tx="0" ty="0" sx="100000" sy="100000" flip="none" algn="tl"/>
          </a:blipFill>
          <a:ln>
            <a:solidFill>
              <a:schemeClr val="tx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vert="horz" lIns="91440" tIns="45720" rIns="91440" bIns="45720" rtlCol="0" anchor="ctr">
            <a:normAutofit fontScale="92500"/>
          </a:bodyPr>
          <a:lstStyle>
            <a:lvl1pPr algn="l" defTabSz="914400" rtl="0" eaLnBrk="1" latinLnBrk="1" hangingPunct="1">
              <a:lnSpc>
                <a:spcPct val="90000"/>
              </a:lnSpc>
              <a:spcBef>
                <a:spcPct val="0"/>
              </a:spcBef>
              <a:buNone/>
              <a:defRPr sz="4400" kern="1200">
                <a:solidFill>
                  <a:schemeClr val="tx1"/>
                </a:solidFill>
                <a:latin typeface="+mj-lt"/>
                <a:ea typeface="+mj-ea"/>
                <a:cs typeface="+mj-cs"/>
              </a:defRPr>
            </a:lvl1pPr>
          </a:lstStyle>
          <a:p>
            <a:r>
              <a:rPr kumimoji="1" lang="en-US" altLang="ko-KR" sz="4000" dirty="0">
                <a:solidFill>
                  <a:schemeClr val="bg1"/>
                </a:solidFill>
                <a:latin typeface="Courier New" panose="02070309020205020404" pitchFamily="49" charset="0"/>
                <a:cs typeface="Courier New" panose="02070309020205020404" pitchFamily="49" charset="0"/>
              </a:rPr>
              <a:t>The Inverse Plugboard</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6310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0F3E-6E49-9026-3CDC-B954012D6F7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A5BAF3E-D5AA-1F47-DA97-6519AD6E1AAC}"/>
              </a:ext>
            </a:extLst>
          </p:cNvPr>
          <p:cNvSpPr>
            <a:spLocks noGrp="1"/>
          </p:cNvSpPr>
          <p:nvPr>
            <p:ph type="title"/>
          </p:nvPr>
        </p:nvSpPr>
        <p:spPr>
          <a:xfrm>
            <a:off x="806980" y="742517"/>
            <a:ext cx="5445539" cy="923331"/>
          </a:xfrm>
          <a:custGeom>
            <a:avLst/>
            <a:gdLst>
              <a:gd name="connsiteX0" fmla="*/ 0 w 5445539"/>
              <a:gd name="connsiteY0" fmla="*/ 0 h 923331"/>
              <a:gd name="connsiteX1" fmla="*/ 381188 w 5445539"/>
              <a:gd name="connsiteY1" fmla="*/ 0 h 923331"/>
              <a:gd name="connsiteX2" fmla="*/ 1034652 w 5445539"/>
              <a:gd name="connsiteY2" fmla="*/ 0 h 923331"/>
              <a:gd name="connsiteX3" fmla="*/ 1633662 w 5445539"/>
              <a:gd name="connsiteY3" fmla="*/ 0 h 923331"/>
              <a:gd name="connsiteX4" fmla="*/ 2014849 w 5445539"/>
              <a:gd name="connsiteY4" fmla="*/ 0 h 923331"/>
              <a:gd name="connsiteX5" fmla="*/ 2504948 w 5445539"/>
              <a:gd name="connsiteY5" fmla="*/ 0 h 923331"/>
              <a:gd name="connsiteX6" fmla="*/ 3158413 w 5445539"/>
              <a:gd name="connsiteY6" fmla="*/ 0 h 923331"/>
              <a:gd name="connsiteX7" fmla="*/ 3702967 w 5445539"/>
              <a:gd name="connsiteY7" fmla="*/ 0 h 923331"/>
              <a:gd name="connsiteX8" fmla="*/ 4301976 w 5445539"/>
              <a:gd name="connsiteY8" fmla="*/ 0 h 923331"/>
              <a:gd name="connsiteX9" fmla="*/ 4792074 w 5445539"/>
              <a:gd name="connsiteY9" fmla="*/ 0 h 923331"/>
              <a:gd name="connsiteX10" fmla="*/ 5445539 w 5445539"/>
              <a:gd name="connsiteY10" fmla="*/ 0 h 923331"/>
              <a:gd name="connsiteX11" fmla="*/ 5445539 w 5445539"/>
              <a:gd name="connsiteY11" fmla="*/ 480132 h 923331"/>
              <a:gd name="connsiteX12" fmla="*/ 5445539 w 5445539"/>
              <a:gd name="connsiteY12" fmla="*/ 923331 h 923331"/>
              <a:gd name="connsiteX13" fmla="*/ 5064351 w 5445539"/>
              <a:gd name="connsiteY13" fmla="*/ 923331 h 923331"/>
              <a:gd name="connsiteX14" fmla="*/ 4683164 w 5445539"/>
              <a:gd name="connsiteY14" fmla="*/ 923331 h 923331"/>
              <a:gd name="connsiteX15" fmla="*/ 4084154 w 5445539"/>
              <a:gd name="connsiteY15" fmla="*/ 923331 h 923331"/>
              <a:gd name="connsiteX16" fmla="*/ 3702967 w 5445539"/>
              <a:gd name="connsiteY16" fmla="*/ 923331 h 923331"/>
              <a:gd name="connsiteX17" fmla="*/ 3158413 w 5445539"/>
              <a:gd name="connsiteY17" fmla="*/ 923331 h 923331"/>
              <a:gd name="connsiteX18" fmla="*/ 2722770 w 5445539"/>
              <a:gd name="connsiteY18" fmla="*/ 923331 h 923331"/>
              <a:gd name="connsiteX19" fmla="*/ 2178216 w 5445539"/>
              <a:gd name="connsiteY19" fmla="*/ 923331 h 923331"/>
              <a:gd name="connsiteX20" fmla="*/ 1633662 w 5445539"/>
              <a:gd name="connsiteY20" fmla="*/ 923331 h 923331"/>
              <a:gd name="connsiteX21" fmla="*/ 1089108 w 5445539"/>
              <a:gd name="connsiteY21" fmla="*/ 923331 h 923331"/>
              <a:gd name="connsiteX22" fmla="*/ 544554 w 5445539"/>
              <a:gd name="connsiteY22" fmla="*/ 923331 h 923331"/>
              <a:gd name="connsiteX23" fmla="*/ 0 w 5445539"/>
              <a:gd name="connsiteY23" fmla="*/ 923331 h 923331"/>
              <a:gd name="connsiteX24" fmla="*/ 0 w 5445539"/>
              <a:gd name="connsiteY24" fmla="*/ 452432 h 923331"/>
              <a:gd name="connsiteX25" fmla="*/ 0 w 5445539"/>
              <a:gd name="connsiteY25" fmla="*/ 0 h 923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445539" h="923331" fill="none" extrusionOk="0">
                <a:moveTo>
                  <a:pt x="0" y="0"/>
                </a:moveTo>
                <a:cubicBezTo>
                  <a:pt x="157272" y="-20773"/>
                  <a:pt x="276437" y="20277"/>
                  <a:pt x="381188" y="0"/>
                </a:cubicBezTo>
                <a:cubicBezTo>
                  <a:pt x="485939" y="-20277"/>
                  <a:pt x="722354" y="38511"/>
                  <a:pt x="1034652" y="0"/>
                </a:cubicBezTo>
                <a:cubicBezTo>
                  <a:pt x="1346950" y="-38511"/>
                  <a:pt x="1407114" y="34286"/>
                  <a:pt x="1633662" y="0"/>
                </a:cubicBezTo>
                <a:cubicBezTo>
                  <a:pt x="1860210" y="-34286"/>
                  <a:pt x="1934375" y="5936"/>
                  <a:pt x="2014849" y="0"/>
                </a:cubicBezTo>
                <a:cubicBezTo>
                  <a:pt x="2095323" y="-5936"/>
                  <a:pt x="2293497" y="6722"/>
                  <a:pt x="2504948" y="0"/>
                </a:cubicBezTo>
                <a:cubicBezTo>
                  <a:pt x="2716399" y="-6722"/>
                  <a:pt x="2964293" y="18720"/>
                  <a:pt x="3158413" y="0"/>
                </a:cubicBezTo>
                <a:cubicBezTo>
                  <a:pt x="3352534" y="-18720"/>
                  <a:pt x="3580788" y="60547"/>
                  <a:pt x="3702967" y="0"/>
                </a:cubicBezTo>
                <a:cubicBezTo>
                  <a:pt x="3825146" y="-60547"/>
                  <a:pt x="4090060" y="44927"/>
                  <a:pt x="4301976" y="0"/>
                </a:cubicBezTo>
                <a:cubicBezTo>
                  <a:pt x="4513892" y="-44927"/>
                  <a:pt x="4623901" y="37072"/>
                  <a:pt x="4792074" y="0"/>
                </a:cubicBezTo>
                <a:cubicBezTo>
                  <a:pt x="4960247" y="-37072"/>
                  <a:pt x="5148180" y="50349"/>
                  <a:pt x="5445539" y="0"/>
                </a:cubicBezTo>
                <a:cubicBezTo>
                  <a:pt x="5497398" y="166644"/>
                  <a:pt x="5402216" y="295014"/>
                  <a:pt x="5445539" y="480132"/>
                </a:cubicBezTo>
                <a:cubicBezTo>
                  <a:pt x="5488862" y="665250"/>
                  <a:pt x="5427472" y="752512"/>
                  <a:pt x="5445539" y="923331"/>
                </a:cubicBezTo>
                <a:cubicBezTo>
                  <a:pt x="5314146" y="956506"/>
                  <a:pt x="5198524" y="907374"/>
                  <a:pt x="5064351" y="923331"/>
                </a:cubicBezTo>
                <a:cubicBezTo>
                  <a:pt x="4930178" y="939288"/>
                  <a:pt x="4814018" y="892421"/>
                  <a:pt x="4683164" y="923331"/>
                </a:cubicBezTo>
                <a:cubicBezTo>
                  <a:pt x="4552310" y="954241"/>
                  <a:pt x="4267416" y="923243"/>
                  <a:pt x="4084154" y="923331"/>
                </a:cubicBezTo>
                <a:cubicBezTo>
                  <a:pt x="3900892" y="923419"/>
                  <a:pt x="3877482" y="895289"/>
                  <a:pt x="3702967" y="923331"/>
                </a:cubicBezTo>
                <a:cubicBezTo>
                  <a:pt x="3528452" y="951373"/>
                  <a:pt x="3407727" y="868539"/>
                  <a:pt x="3158413" y="923331"/>
                </a:cubicBezTo>
                <a:cubicBezTo>
                  <a:pt x="2909099" y="978123"/>
                  <a:pt x="2898223" y="882954"/>
                  <a:pt x="2722770" y="923331"/>
                </a:cubicBezTo>
                <a:cubicBezTo>
                  <a:pt x="2547317" y="963708"/>
                  <a:pt x="2355202" y="880447"/>
                  <a:pt x="2178216" y="923331"/>
                </a:cubicBezTo>
                <a:cubicBezTo>
                  <a:pt x="2001230" y="966215"/>
                  <a:pt x="1758487" y="889149"/>
                  <a:pt x="1633662" y="923331"/>
                </a:cubicBezTo>
                <a:cubicBezTo>
                  <a:pt x="1508837" y="957513"/>
                  <a:pt x="1263469" y="915593"/>
                  <a:pt x="1089108" y="923331"/>
                </a:cubicBezTo>
                <a:cubicBezTo>
                  <a:pt x="914747" y="931069"/>
                  <a:pt x="697939" y="894937"/>
                  <a:pt x="544554" y="923331"/>
                </a:cubicBezTo>
                <a:cubicBezTo>
                  <a:pt x="391169" y="951725"/>
                  <a:pt x="149222" y="873481"/>
                  <a:pt x="0" y="923331"/>
                </a:cubicBezTo>
                <a:cubicBezTo>
                  <a:pt x="-8444" y="741602"/>
                  <a:pt x="48150" y="624398"/>
                  <a:pt x="0" y="452432"/>
                </a:cubicBezTo>
                <a:cubicBezTo>
                  <a:pt x="-48150" y="280466"/>
                  <a:pt x="44482" y="133400"/>
                  <a:pt x="0" y="0"/>
                </a:cubicBezTo>
                <a:close/>
              </a:path>
              <a:path w="5445539" h="923331" stroke="0" extrusionOk="0">
                <a:moveTo>
                  <a:pt x="0" y="0"/>
                </a:moveTo>
                <a:cubicBezTo>
                  <a:pt x="144145" y="-14347"/>
                  <a:pt x="371177" y="48808"/>
                  <a:pt x="490099" y="0"/>
                </a:cubicBezTo>
                <a:cubicBezTo>
                  <a:pt x="609021" y="-48808"/>
                  <a:pt x="689007" y="2093"/>
                  <a:pt x="871286" y="0"/>
                </a:cubicBezTo>
                <a:cubicBezTo>
                  <a:pt x="1053565" y="-2093"/>
                  <a:pt x="1229195" y="26776"/>
                  <a:pt x="1524751" y="0"/>
                </a:cubicBezTo>
                <a:cubicBezTo>
                  <a:pt x="1820308" y="-26776"/>
                  <a:pt x="1847975" y="44884"/>
                  <a:pt x="2014849" y="0"/>
                </a:cubicBezTo>
                <a:cubicBezTo>
                  <a:pt x="2181723" y="-44884"/>
                  <a:pt x="2362176" y="36056"/>
                  <a:pt x="2504948" y="0"/>
                </a:cubicBezTo>
                <a:cubicBezTo>
                  <a:pt x="2647720" y="-36056"/>
                  <a:pt x="2939805" y="58130"/>
                  <a:pt x="3158413" y="0"/>
                </a:cubicBezTo>
                <a:cubicBezTo>
                  <a:pt x="3377022" y="-58130"/>
                  <a:pt x="3380772" y="8328"/>
                  <a:pt x="3594056" y="0"/>
                </a:cubicBezTo>
                <a:cubicBezTo>
                  <a:pt x="3807340" y="-8328"/>
                  <a:pt x="3947145" y="30783"/>
                  <a:pt x="4247520" y="0"/>
                </a:cubicBezTo>
                <a:cubicBezTo>
                  <a:pt x="4547895" y="-30783"/>
                  <a:pt x="4688043" y="30729"/>
                  <a:pt x="4900985" y="0"/>
                </a:cubicBezTo>
                <a:cubicBezTo>
                  <a:pt x="5113928" y="-30729"/>
                  <a:pt x="5298612" y="18161"/>
                  <a:pt x="5445539" y="0"/>
                </a:cubicBezTo>
                <a:cubicBezTo>
                  <a:pt x="5476091" y="219931"/>
                  <a:pt x="5403834" y="331858"/>
                  <a:pt x="5445539" y="480132"/>
                </a:cubicBezTo>
                <a:cubicBezTo>
                  <a:pt x="5487244" y="628406"/>
                  <a:pt x="5412040" y="734450"/>
                  <a:pt x="5445539" y="923331"/>
                </a:cubicBezTo>
                <a:cubicBezTo>
                  <a:pt x="5335559" y="927571"/>
                  <a:pt x="5228818" y="920138"/>
                  <a:pt x="5064351" y="923331"/>
                </a:cubicBezTo>
                <a:cubicBezTo>
                  <a:pt x="4899884" y="926524"/>
                  <a:pt x="4668957" y="866332"/>
                  <a:pt x="4410887" y="923331"/>
                </a:cubicBezTo>
                <a:cubicBezTo>
                  <a:pt x="4152817" y="980330"/>
                  <a:pt x="4124027" y="916397"/>
                  <a:pt x="3975243" y="923331"/>
                </a:cubicBezTo>
                <a:cubicBezTo>
                  <a:pt x="3826459" y="930265"/>
                  <a:pt x="3700732" y="903662"/>
                  <a:pt x="3430690" y="923331"/>
                </a:cubicBezTo>
                <a:cubicBezTo>
                  <a:pt x="3160648" y="943000"/>
                  <a:pt x="2952261" y="921420"/>
                  <a:pt x="2777225" y="923331"/>
                </a:cubicBezTo>
                <a:cubicBezTo>
                  <a:pt x="2602189" y="925242"/>
                  <a:pt x="2425777" y="886056"/>
                  <a:pt x="2232671" y="923331"/>
                </a:cubicBezTo>
                <a:cubicBezTo>
                  <a:pt x="2039565" y="960606"/>
                  <a:pt x="1955277" y="912844"/>
                  <a:pt x="1851483" y="923331"/>
                </a:cubicBezTo>
                <a:cubicBezTo>
                  <a:pt x="1747689" y="933818"/>
                  <a:pt x="1556670" y="917639"/>
                  <a:pt x="1415840" y="923331"/>
                </a:cubicBezTo>
                <a:cubicBezTo>
                  <a:pt x="1275010" y="929023"/>
                  <a:pt x="942843" y="884218"/>
                  <a:pt x="762375" y="923331"/>
                </a:cubicBezTo>
                <a:cubicBezTo>
                  <a:pt x="581908" y="962444"/>
                  <a:pt x="377221" y="863599"/>
                  <a:pt x="0" y="923331"/>
                </a:cubicBezTo>
                <a:cubicBezTo>
                  <a:pt x="-17195" y="828478"/>
                  <a:pt x="13193" y="630804"/>
                  <a:pt x="0" y="480132"/>
                </a:cubicBezTo>
                <a:cubicBezTo>
                  <a:pt x="-13193" y="329460"/>
                  <a:pt x="33197" y="194430"/>
                  <a:pt x="0" y="0"/>
                </a:cubicBezTo>
                <a:close/>
              </a:path>
            </a:pathLst>
          </a:custGeom>
          <a:blipFill>
            <a:blip r:embed="rId2"/>
            <a:tile tx="0" ty="0" sx="100000" sy="100000" flip="none" algn="tl"/>
          </a:blipFill>
          <a:ln>
            <a:solidFill>
              <a:schemeClr val="tx1"/>
            </a:solidFill>
            <a:extLst>
              <a:ext uri="{C807C97D-BFC1-408E-A445-0C87EB9F89A2}">
                <ask:lineSketchStyleProps xmlns:ask="http://schemas.microsoft.com/office/drawing/2018/sketchyshapes" sd="1219033472">
                  <ask:type>
                    <ask:lineSketchScribble/>
                  </ask:type>
                </ask:lineSketchStyleProps>
              </a:ext>
            </a:extLst>
          </a:ln>
        </p:spPr>
        <p:txBody>
          <a:bodyPr>
            <a:normAutofit/>
          </a:bodyPr>
          <a:lstStyle/>
          <a:p>
            <a:r>
              <a:rPr kumimoji="1" lang="en-US" altLang="ko-KR" sz="4000" dirty="0">
                <a:solidFill>
                  <a:schemeClr val="bg1"/>
                </a:solidFill>
                <a:latin typeface="Courier New" panose="02070309020205020404" pitchFamily="49" charset="0"/>
                <a:cs typeface="Courier New" panose="02070309020205020404" pitchFamily="49" charset="0"/>
              </a:rPr>
              <a:t>The Lightbulb</a:t>
            </a:r>
            <a:endParaRPr kumimoji="1" lang="ko-KR" altLang="en-US" sz="4000" dirty="0">
              <a:solidFill>
                <a:schemeClr val="bg1"/>
              </a:solidFill>
              <a:latin typeface="Courier New" panose="02070309020205020404" pitchFamily="49" charset="0"/>
              <a:cs typeface="Courier New" panose="02070309020205020404" pitchFamily="49" charset="0"/>
            </a:endParaRPr>
          </a:p>
        </p:txBody>
      </p:sp>
      <p:pic>
        <p:nvPicPr>
          <p:cNvPr id="7" name="그림 6" descr="텍스트, 폰트, 스크린샷, 번호이(가) 표시된 사진&#10;&#10;AI 생성 콘텐츠는 정확하지 않을 수 있습니다.">
            <a:extLst>
              <a:ext uri="{FF2B5EF4-FFF2-40B4-BE49-F238E27FC236}">
                <a16:creationId xmlns:a16="http://schemas.microsoft.com/office/drawing/2014/main" id="{72634AF1-F28D-8FC7-EE22-4B823C8055F3}"/>
              </a:ext>
            </a:extLst>
          </p:cNvPr>
          <p:cNvPicPr>
            <a:picLocks noChangeAspect="1"/>
          </p:cNvPicPr>
          <p:nvPr/>
        </p:nvPicPr>
        <p:blipFill>
          <a:blip r:embed="rId3"/>
          <a:stretch>
            <a:fillRect/>
          </a:stretch>
        </p:blipFill>
        <p:spPr>
          <a:xfrm>
            <a:off x="6969212" y="4398921"/>
            <a:ext cx="4477593" cy="1803831"/>
          </a:xfrm>
          <a:prstGeom prst="rect">
            <a:avLst/>
          </a:prstGeom>
        </p:spPr>
      </p:pic>
      <p:sp>
        <p:nvSpPr>
          <p:cNvPr id="8" name="TextBox 7">
            <a:extLst>
              <a:ext uri="{FF2B5EF4-FFF2-40B4-BE49-F238E27FC236}">
                <a16:creationId xmlns:a16="http://schemas.microsoft.com/office/drawing/2014/main" id="{D18349A5-F23D-4B7F-1237-08887F0A1A67}"/>
              </a:ext>
            </a:extLst>
          </p:cNvPr>
          <p:cNvSpPr txBox="1"/>
          <p:nvPr/>
        </p:nvSpPr>
        <p:spPr>
          <a:xfrm>
            <a:off x="806980" y="2031933"/>
            <a:ext cx="5445539" cy="163121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altLang="ko-KR" dirty="0">
                <a:latin typeface="Courier New" panose="02070309020205020404" pitchFamily="49" charset="0"/>
                <a:cs typeface="Courier New" panose="02070309020205020404" pitchFamily="49" charset="0"/>
              </a:rPr>
              <a:t>The lightbulb is represented by an LED and a tunnel circuit.</a:t>
            </a:r>
          </a:p>
          <a:p>
            <a:pPr marL="285750" indent="-285750">
              <a:spcAft>
                <a:spcPts val="1200"/>
              </a:spcAft>
              <a:buFont typeface="Arial" panose="020B0604020202020204" pitchFamily="34" charset="0"/>
              <a:buChar char="•"/>
            </a:pPr>
            <a:r>
              <a:rPr lang="en-US" altLang="ko-KR" dirty="0">
                <a:latin typeface="Courier New" panose="02070309020205020404" pitchFamily="49" charset="0"/>
                <a:cs typeface="Courier New" panose="02070309020205020404" pitchFamily="49" charset="0"/>
              </a:rPr>
              <a:t>This interprets the decoded output and display the corresponding alphabet character visually.</a:t>
            </a:r>
          </a:p>
        </p:txBody>
      </p:sp>
      <p:sp>
        <p:nvSpPr>
          <p:cNvPr id="9" name="TextBox 8">
            <a:extLst>
              <a:ext uri="{FF2B5EF4-FFF2-40B4-BE49-F238E27FC236}">
                <a16:creationId xmlns:a16="http://schemas.microsoft.com/office/drawing/2014/main" id="{63FF3D44-B14A-B9D1-A11F-D13D4EAFB555}"/>
              </a:ext>
            </a:extLst>
          </p:cNvPr>
          <p:cNvSpPr txBox="1"/>
          <p:nvPr/>
        </p:nvSpPr>
        <p:spPr>
          <a:xfrm>
            <a:off x="11111696" y="2210765"/>
            <a:ext cx="184731" cy="369332"/>
          </a:xfrm>
          <a:prstGeom prst="rect">
            <a:avLst/>
          </a:prstGeom>
          <a:noFill/>
        </p:spPr>
        <p:txBody>
          <a:bodyPr wrap="none" rtlCol="0">
            <a:spAutoFit/>
          </a:bodyPr>
          <a:lstStyle/>
          <a:p>
            <a:endParaRPr kumimoji="1" lang="ko-KR" altLang="en-US" dirty="0"/>
          </a:p>
        </p:txBody>
      </p:sp>
      <p:pic>
        <p:nvPicPr>
          <p:cNvPr id="15" name="내용 개체 틀 8" descr="사무 장비, 스페이스 바, 사무용품, 키보드이(가) 표시된 사진&#10;&#10;AI 생성 콘텐츠는 정확하지 않을 수 있습니다.">
            <a:extLst>
              <a:ext uri="{FF2B5EF4-FFF2-40B4-BE49-F238E27FC236}">
                <a16:creationId xmlns:a16="http://schemas.microsoft.com/office/drawing/2014/main" id="{D2DC51F6-B605-1E83-ACE0-D13ECE06BDFD}"/>
              </a:ext>
            </a:extLst>
          </p:cNvPr>
          <p:cNvPicPr>
            <a:picLocks noChangeAspect="1"/>
          </p:cNvPicPr>
          <p:nvPr/>
        </p:nvPicPr>
        <p:blipFill>
          <a:blip r:embed="rId4"/>
          <a:stretch>
            <a:fillRect/>
          </a:stretch>
        </p:blipFill>
        <p:spPr>
          <a:xfrm>
            <a:off x="6969212" y="742517"/>
            <a:ext cx="4477593" cy="3350732"/>
          </a:xfrm>
          <a:prstGeom prst="rect">
            <a:avLst/>
          </a:prstGeom>
          <a:effectLst>
            <a:glow rad="228600">
              <a:schemeClr val="accent2">
                <a:satMod val="175000"/>
                <a:alpha val="40000"/>
              </a:schemeClr>
            </a:glow>
            <a:softEdge rad="0"/>
          </a:effectLst>
        </p:spPr>
      </p:pic>
    </p:spTree>
    <p:extLst>
      <p:ext uri="{BB962C8B-B14F-4D97-AF65-F5344CB8AC3E}">
        <p14:creationId xmlns:p14="http://schemas.microsoft.com/office/powerpoint/2010/main" val="1535659537"/>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1377</TotalTime>
  <Words>776</Words>
  <Application>Microsoft Macintosh PowerPoint</Application>
  <PresentationFormat>와이드스크린</PresentationFormat>
  <Paragraphs>41</Paragraphs>
  <Slides>9</Slides>
  <Notes>1</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9</vt:i4>
      </vt:variant>
    </vt:vector>
  </HeadingPairs>
  <TitlesOfParts>
    <vt:vector size="16" baseType="lpstr">
      <vt:lpstr>맑은 고딕</vt:lpstr>
      <vt:lpstr>Aptos</vt:lpstr>
      <vt:lpstr>Aptos Display</vt:lpstr>
      <vt:lpstr>Arial</vt:lpstr>
      <vt:lpstr>Calibri</vt:lpstr>
      <vt:lpstr>Courier New</vt:lpstr>
      <vt:lpstr>Office 테마</vt:lpstr>
      <vt:lpstr>PowerPoint 프레젠테이션</vt:lpstr>
      <vt:lpstr>The Enigma Machine</vt:lpstr>
      <vt:lpstr>PowerPoint 프레젠테이션</vt:lpstr>
      <vt:lpstr>The Plugboard</vt:lpstr>
      <vt:lpstr>The Rotor</vt:lpstr>
      <vt:lpstr>PowerPoint 프레젠테이션</vt:lpstr>
      <vt:lpstr>PowerPoint 프레젠테이션</vt:lpstr>
      <vt:lpstr>PowerPoint 프레젠테이션</vt:lpstr>
      <vt:lpstr>The Lightbulb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준혁 권</dc:creator>
  <cp:lastModifiedBy>준혁 권</cp:lastModifiedBy>
  <cp:revision>47</cp:revision>
  <dcterms:created xsi:type="dcterms:W3CDTF">2025-05-11T04:38:47Z</dcterms:created>
  <dcterms:modified xsi:type="dcterms:W3CDTF">2025-05-31T15:51:05Z</dcterms:modified>
</cp:coreProperties>
</file>